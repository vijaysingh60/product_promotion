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9148b5e-21ca-866a-d3f1-a544b7e6dfa7}">
          <p14:sldIdLst>
            <p14:sldId id="256"/>
            <p14:sldId id="257"/>
          </p14:sldIdLst>
        </p14:section>
        <p14:section name="Dashboard" id="{31731469-6b7e-47da-bd9c-2656d56337ec}">
          <p14:sldIdLst>
            <p14:sldId id="258"/>
            <p14:sldId id="259"/>
            <p14:sldId id="260"/>
          </p14:sldIdLst>
        </p14:section>
        <p14:section name="Decisions" id="{eef23cb2-442b-aae2-765d-6cce1d6e0155}">
          <p14:sldIdLst>
            <p14:sldId id="261"/>
            <p14:sldId id="262"/>
            <p14:sldId id="263"/>
            <p14:sldId id="264"/>
            <p14:sldId id="265"/>
            <p14:sldId id="266"/>
          </p14:sldIdLst>
        </p14:section>
        <p14:section name="Operations" id="{df7892e5-6afa-74d0-d1a9-c4b7b2941e3f}">
          <p14:sldIdLst>
            <p14:sldId id="267"/>
            <p14:sldId id="268"/>
            <p14:sldId id="269"/>
          </p14:sldIdLst>
        </p14:section>
        <p14:section name="Rules and design" id="{beed2fef-f7dc-11fd-caa0-fa511f7d523a}">
          <p14:sldIdLst>
            <p14:sldId id="270"/>
            <p14:sldId id="271"/>
          </p14:sldIdLst>
        </p14:section>
        <p14:section name="Close" id="{60dee1e7-9e5f-3346-d13a-51a78db97946}">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PromoPilot is a promotion and inventory planner. It answers one question: which product, to which segment, in which city, at what discount, and it judges every answer on incremental profit. Everything you see in this deck is a screenshot of the running app, reading its data from 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per promotion: what, who, where, how much. The engine scores every combination: 20 products x 4 segments x 5 cities = 400 candidates. Only 36 make the plan; 55 would pay off but run out of budget or stock; 309 are rejected, each with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is what we expect if no promotion runs. Projected is baseline plus the funded promotions after their marketing cost. The green card is the number that matters: extra profit versus doing nothing, not total sales. The filters re-cut every card, chart and table on the page. 36 promotions recommended, 309 rejected, 5 products at stockout risk, 5 overstocked.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waterfall starts at the baseline and adds extra units sold, then subtracts the discount given to customers who would have bought anyway, stockout loss and promo cost, then adds clearance value. The scatter shows each funded promotion: bubble size is predicted units, colour is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Incremental profit by city and by segment, the top five products, stock versus predicted demand per product, and the risk mix of the funded promotions. Price-sensitive segments carry the plan because discounts move them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400 candidates live here in three tabs. In plan is what fits the budget and stock. Not funded would have paid off but the budget or stock ran out first. Rejected is everything the engine refused, with the reason. Click any row for the full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most planners skip. 309 of 400 candidates are rejected. 144 because customers would have bought anyway: the extra units do not make up for the margin given away. 121 because the promo cost exceeds the extra profit. 24 because the stock has to be protected. 20 because no legal discount exists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demand, low stock. The engine still promotes, but small: a 7.5% discount, an audience of 496 out of 1,860 students so expected buyers stay within 80 percent of safe units, and two warnings. There is a 16 percent chance demand exceeds safe stock, so the risk is flagged medium.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 is incremental profit after promo cost for each discount. The green dot is the engine's pick. On the right, baseline versus promoted: units, revenue, profit, promo cost, and where the incremental profit comes from. Extra units sold add 6,622 rupees, the discount given to customers who would have bought anyway takes away 3,004, stockout loss 492 and promo cost 1,488.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 margin. The television costs 33,600 and sells at an MRP of 34,999, a 4 percent margin. The rule says the offer must stay at or above cost plus 5 percent, which is 35,280, above the MRP. So the legal discount band is empty and the whole chart is shaded illegal. No baseline versus promoted comparison is even attempted.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Overstocked slow mover. 141 days of cover in Chennai, well over the 100 day threshold. The engine recommends a clearance promotion and counts the value of freeing that stock separately: 4,705 rupees of holding cost released. There is still a risk flag: it is the festive run-up, so some buyers would pay full price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positions: 20 products across 5 cities. 5 are at stockout risk with under 30 days of cover, 41 are running thin, 5 are overstocked and need clearance, 49 are healthy. Stock is tracked per city, and a city is never promoted using another city's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segments. Students are the most price-sensitive at 85 out of 100, Premium the least at 25. The heat maps show long-run affinity and recent intent per category, and both feed the response model. Audience sizes by city are capped by stock, so a promotion may contact only part of a segment.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simulator runs in the browser against the same engine as the plan. The slider stops at the deepest legal discount. Three scenarios side by side: the engine's pick at 5 percent earns 3,123 rupees, a moderate 15 percent earns 1,888, and an aggressive 40 percent loses 3,149. Note it is a standalone view of one promotion, so the plan, which also accounts for other campaigns, can pick a different discount.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constraints hold for every recommendation. The four tunables live in one config object and are editable in the Assumptions panel on the dashboard. Change one and the whole plan recomputes.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candidate: find the legal discount band, grid-search discounts in 2.5 point steps, call the response, demand and inventory models for each, compare baseline against promoted to get incremental profit with returns netted out, units capped by safe stock and stockout probability priced in, then choose the best risk-adjusted option. The allocator ranks promotions by incremental profit per rupee of promo cost and fills the budget, deducting stock as it goes. Data comes from MongoDB; if it is unreachable the app falls back to bundled demo data and shows an amber badge. The three models are deterministic stubs today, behind typed functions a trained model can 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idea: a planner that refuses unprofitable promotions and explains why is more useful than one that only forecasts sales. Built today: the five screens on live MongoDB data. Left out on purpose: per-customer targeting, competitor pricing, multi-warehouse allocation, LLM calls, auth. Next: swap the deterministic models for trained ones behind the same typed seam.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457200" y="960120"/>
            <a:ext cx="11277295" cy="384048"/>
          </a:xfrm>
          <a:prstGeom prst="rect">
            <a:avLst/>
          </a:prstGeom>
          <a:noFill/>
          <a:ln/>
        </p:spPr>
        <p:txBody>
          <a:bodyPr wrap="square" rtlCol="0"/>
          <a:lstStyle>
            <a:lvl1pPr algn="l" indent="0" marL="0">
              <a:buNone/>
              <a:defRPr lang="en-US" sz="1600" dirty="0">
                <a:solidFill>
                  <a:schemeClr val="tx2"/>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640080"/>
            <a:ext cx="11277295"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457200" y="1508760"/>
            <a:ext cx="11277295" cy="41148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120640" cy="1005840"/>
          </a:xfrm>
          <a:prstGeom prst="rect">
            <a:avLst/>
          </a:prstGeom>
          <a:noFill/>
          <a:ln/>
        </p:spPr>
        <p:txBody>
          <a:bodyPr wrap="square" rtlCol="0"/>
          <a:lstStyle>
            <a:lvl1pPr algn="l" indent="0" marL="0">
              <a:buNone/>
              <a:defRPr lang="en-US" sz="6400" b="1" dirty="0">
                <a:solidFill>
                  <a:schemeClr val="bg1"/>
                </a:solidFill>
              </a:defRPr>
            </a:lvl1pPr>
          </a:lstStyle>
          <a:p>
            <a:pPr algn="l" indent="0" marL="0">
              <a:buNone/>
            </a:pPr>
            <a:endParaRPr lang="en-US" sz="6400" dirty="0"/>
          </a:p>
        </p:txBody>
      </p:sp>
      <p:sp>
        <p:nvSpPr>
          <p:cNvPr id="3" name="Text 0"/>
          <p:cNvSpPr/>
          <p:nvPr>
            <p:ph idx="101" type="body" hasCustomPrompt="1"/>
          </p:nvPr>
        </p:nvSpPr>
        <p:spPr>
          <a:xfrm>
            <a:off x="640080" y="2880360"/>
            <a:ext cx="5120640" cy="457200"/>
          </a:xfrm>
          <a:prstGeom prst="rect">
            <a:avLst/>
          </a:prstGeom>
          <a:noFill/>
          <a:ln/>
        </p:spPr>
        <p:txBody>
          <a:bodyPr wrap="square" rtlCol="0"/>
          <a:lstStyle>
            <a:lvl1pPr algn="l" indent="0" marL="0">
              <a:buNone/>
              <a:defRPr lang="en-US" sz="2400" dirty="0">
                <a:solidFill>
                  <a:schemeClr val="bg2"/>
                </a:solidFill>
              </a:defRPr>
            </a:lvl1pPr>
          </a:lstStyle>
          <a:p>
            <a:pPr algn="l"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2.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234440"/>
            <a:ext cx="5120640" cy="365760"/>
          </a:xfrm>
          <a:prstGeom prst="rect">
            <a:avLst/>
          </a:prstGeom>
          <a:noFill/>
          <a:ln/>
        </p:spPr>
        <p:txBody>
          <a:bodyPr wrap="square" lIns="0" tIns="0" rIns="0" bIns="0" rtlCol="0" anchor="ctr"/>
          <a:lstStyle/>
          <a:p>
            <a:pPr indent="0" marL="0">
              <a:buNone/>
            </a:pPr>
            <a:r>
              <a:rPr lang="en-US" sz="1400" b="1" spc="400" kern="0" dirty="0">
                <a:solidFill>
                  <a:schemeClr val="bg2"/>
                </a:solidFill>
              </a:rPr>
              <a:t>TCS TECH DAY</a:t>
            </a:r>
            <a:endParaRPr lang="en-US" sz="1400" dirty="0"/>
          </a:p>
        </p:txBody>
      </p:sp>
      <p:sp>
        <p:nvSpPr>
          <p:cNvPr id="3" name="Text 0"/>
          <p:cNvSpPr/>
          <p:nvPr>
            <p:ph idx="100" type="title" hasCustomPrompt="1"/>
          </p:nvPr>
        </p:nvSpPr>
        <p:spPr>
          <a:xfrm>
            <a:off x="640080" y="1828800"/>
            <a:ext cx="5120640" cy="1005840"/>
          </a:xfrm>
          <a:prstGeom prst="rect">
            <a:avLst/>
          </a:prstGeom>
          <a:noFill/>
          <a:ln/>
        </p:spPr>
        <p:txBody>
          <a:bodyPr wrap="square" lIns="0" tIns="0" rIns="0" bIns="0" rtlCol="0" anchor="ctr"/>
          <a:lstStyle/>
          <a:p>
            <a:pPr algn="l" indent="0" marL="0">
              <a:buNone/>
            </a:pPr>
            <a:r>
              <a:rPr lang="en-US" sz="6400" b="1" dirty="0">
                <a:solidFill>
                  <a:schemeClr val="bg1"/>
                </a:solidFill>
              </a:rPr>
              <a:t>PromoPilot</a:t>
            </a:r>
            <a:endParaRPr lang="en-US" sz="6400" dirty="0"/>
          </a:p>
        </p:txBody>
      </p:sp>
      <p:sp>
        <p:nvSpPr>
          <p:cNvPr id="4" name="Text 0"/>
          <p:cNvSpPr/>
          <p:nvPr>
            <p:ph idx="101" type="body" hasCustomPrompt="1"/>
          </p:nvPr>
        </p:nvSpPr>
        <p:spPr>
          <a:xfrm>
            <a:off x="640080" y="2880360"/>
            <a:ext cx="5120640" cy="457200"/>
          </a:xfrm>
          <a:prstGeom prst="rect">
            <a:avLst/>
          </a:prstGeom>
          <a:noFill/>
          <a:ln/>
        </p:spPr>
        <p:txBody>
          <a:bodyPr wrap="square" lIns="0" tIns="0" rIns="0" bIns="0" rtlCol="0" anchor="t"/>
          <a:lstStyle/>
          <a:p>
            <a:pPr algn="l" indent="0" marL="0">
              <a:buNone/>
            </a:pPr>
            <a:r>
              <a:rPr lang="en-US" sz="2400" dirty="0">
                <a:solidFill>
                  <a:schemeClr val="bg2"/>
                </a:solidFill>
              </a:rPr>
              <a:t>Promotion &amp; Inventory Planner</a:t>
            </a:r>
            <a:endParaRPr lang="en-US" sz="2400" dirty="0"/>
          </a:p>
        </p:txBody>
      </p:sp>
      <p:sp>
        <p:nvSpPr>
          <p:cNvPr id="5" name="Text 3"/>
          <p:cNvSpPr txBox="1"/>
          <p:nvPr/>
        </p:nvSpPr>
        <p:spPr>
          <a:xfrm>
            <a:off x="640080" y="3611880"/>
            <a:ext cx="4937760" cy="1188720"/>
          </a:xfrm>
          <a:prstGeom prst="rect">
            <a:avLst/>
          </a:prstGeom>
          <a:noFill/>
          <a:ln/>
        </p:spPr>
        <p:txBody>
          <a:bodyPr wrap="square" lIns="0" tIns="0" rIns="0" bIns="0" rtlCol="0" anchor="t"/>
          <a:lstStyle/>
          <a:p>
            <a:pPr algn="l" indent="0" marL="0">
              <a:buNone/>
            </a:pPr>
            <a:r>
              <a:rPr lang="en-US" sz="1600" dirty="0">
                <a:solidFill>
                  <a:schemeClr val="bg2"/>
                </a:solidFill>
              </a:rPr>
              <a:t>Decide what to promote, to which customer segment, in which city and at what discount. Judged on incremental profit, inside hard price and stock rules.</a:t>
            </a:r>
            <a:endParaRPr lang="en-US" sz="1600" dirty="0"/>
          </a:p>
        </p:txBody>
      </p:sp>
      <p:sp>
        <p:nvSpPr>
          <p:cNvPr id="6" name="Text 4"/>
          <p:cNvSpPr txBox="1"/>
          <p:nvPr/>
        </p:nvSpPr>
        <p:spPr>
          <a:xfrm>
            <a:off x="640080" y="5806440"/>
            <a:ext cx="5120640" cy="320040"/>
          </a:xfrm>
          <a:prstGeom prst="rect">
            <a:avLst/>
          </a:prstGeom>
          <a:noFill/>
          <a:ln/>
        </p:spPr>
        <p:txBody>
          <a:bodyPr wrap="square" lIns="0" tIns="0" rIns="0" bIns="0" rtlCol="0" anchor="ctr"/>
          <a:lstStyle/>
          <a:p>
            <a:pPr indent="0" marL="0">
              <a:buNone/>
            </a:pPr>
            <a:r>
              <a:rPr lang="en-US" sz="1400" dirty="0">
                <a:solidFill>
                  <a:schemeClr val="bg2"/>
                </a:solidFill>
              </a:rPr>
              <a:t>A walkthrough of the app</a:t>
            </a:r>
            <a:endParaRPr lang="en-US" sz="1400" dirty="0"/>
          </a:p>
        </p:txBody>
      </p:sp>
      <p:sp>
        <p:nvSpPr>
          <p:cNvPr id="7" name="Frame: hero_dashboard"/>
          <p:cNvSpPr/>
          <p:nvPr/>
        </p:nvSpPr>
        <p:spPr>
          <a:xfrm>
            <a:off x="6172200" y="1463040"/>
            <a:ext cx="5577840" cy="3723894"/>
          </a:xfrm>
          <a:prstGeom prst="rect">
            <a:avLst/>
          </a:prstGeom>
          <a:solidFill>
            <a:schemeClr val="bg1"/>
          </a:solidFill>
          <a:ln w="9525">
            <a:solidFill>
              <a:schemeClr val="bg2"/>
            </a:solidFill>
            <a:prstDash val="solid"/>
          </a:ln>
          <a:effectLst>
            <a:outerShdw sx="100000" sy="100000" kx="0" ky="0" algn="bl" rotWithShape="0" blurRad="114300" dist="38100" dir="5400000">
              <a:srgbClr val="0F172A">
                <a:alpha val="16000"/>
              </a:srgbClr>
            </a:outerShdw>
          </a:effectLst>
        </p:spPr>
      </p:sp>
      <p:sp>
        <p:nvSpPr>
          <p:cNvPr id="8" name="Window bar: hero_dashboard"/>
          <p:cNvSpPr/>
          <p:nvPr/>
        </p:nvSpPr>
        <p:spPr>
          <a:xfrm>
            <a:off x="6172200" y="1463040"/>
            <a:ext cx="5577840" cy="237744"/>
          </a:xfrm>
          <a:prstGeom prst="rect">
            <a:avLst/>
          </a:prstGeom>
          <a:solidFill>
            <a:schemeClr val="tx1"/>
          </a:solidFill>
          <a:ln w="6350">
            <a:solidFill>
              <a:schemeClr val="tx1"/>
            </a:solidFill>
            <a:prstDash val="solid"/>
          </a:ln>
        </p:spPr>
      </p:sp>
      <p:sp>
        <p:nvSpPr>
          <p:cNvPr id="9" name="Shape 7"/>
          <p:cNvSpPr/>
          <p:nvPr/>
        </p:nvSpPr>
        <p:spPr>
          <a:xfrm>
            <a:off x="6281928" y="1545336"/>
            <a:ext cx="82296" cy="82296"/>
          </a:xfrm>
          <a:prstGeom prst="ellipse">
            <a:avLst/>
          </a:prstGeom>
          <a:solidFill>
            <a:schemeClr val="accent4"/>
          </a:solidFill>
          <a:ln w="3175">
            <a:solidFill>
              <a:schemeClr val="accent4"/>
            </a:solidFill>
            <a:prstDash val="solid"/>
          </a:ln>
        </p:spPr>
      </p:sp>
      <p:sp>
        <p:nvSpPr>
          <p:cNvPr id="10" name="Shape 8"/>
          <p:cNvSpPr/>
          <p:nvPr/>
        </p:nvSpPr>
        <p:spPr>
          <a:xfrm>
            <a:off x="6428232" y="1545336"/>
            <a:ext cx="82296" cy="82296"/>
          </a:xfrm>
          <a:prstGeom prst="ellipse">
            <a:avLst/>
          </a:prstGeom>
          <a:solidFill>
            <a:schemeClr val="accent3"/>
          </a:solidFill>
          <a:ln w="3175">
            <a:solidFill>
              <a:schemeClr val="accent3"/>
            </a:solidFill>
            <a:prstDash val="solid"/>
          </a:ln>
        </p:spPr>
      </p:sp>
      <p:sp>
        <p:nvSpPr>
          <p:cNvPr id="11" name="Shape 9"/>
          <p:cNvSpPr/>
          <p:nvPr/>
        </p:nvSpPr>
        <p:spPr>
          <a:xfrm>
            <a:off x="6574536" y="1545336"/>
            <a:ext cx="82296" cy="82296"/>
          </a:xfrm>
          <a:prstGeom prst="ellipse">
            <a:avLst/>
          </a:prstGeom>
          <a:solidFill>
            <a:schemeClr val="accent2"/>
          </a:solidFill>
          <a:ln w="3175">
            <a:solidFill>
              <a:schemeClr val="accent2"/>
            </a:solidFill>
            <a:prstDash val="solid"/>
          </a:ln>
        </p:spPr>
      </p:sp>
      <p:sp>
        <p:nvSpPr>
          <p:cNvPr id="12" name="URL: hero_dashboard"/>
          <p:cNvSpPr txBox="1"/>
          <p:nvPr/>
        </p:nvSpPr>
        <p:spPr>
          <a:xfrm>
            <a:off x="6812280" y="1463040"/>
            <a:ext cx="4754880" cy="237744"/>
          </a:xfrm>
          <a:prstGeom prst="rect">
            <a:avLst/>
          </a:prstGeom>
          <a:noFill/>
          <a:ln/>
        </p:spPr>
        <p:txBody>
          <a:bodyPr wrap="square" lIns="0" tIns="0" rIns="0" bIns="0" rtlCol="0" anchor="ctr"/>
          <a:lstStyle/>
          <a:p>
            <a:pPr algn="l" indent="0" marL="0">
              <a:buNone/>
            </a:pPr>
            <a:r>
              <a:rPr lang="en-US" sz="1000" dirty="0">
                <a:solidFill>
                  <a:schemeClr val="bg2"/>
                </a:solidFill>
              </a:rPr>
              <a:t>localhost:3000/dashboard</a:t>
            </a:r>
            <a:endParaRPr lang="en-US" sz="1000" dirty="0"/>
          </a:p>
        </p:txBody>
      </p:sp>
      <p:pic>
        <p:nvPicPr>
          <p:cNvPr id="13" name="Screenshot: hero_dashboard" descr="PromoPilot dashboard: baseline profit, projected profit, incremental profit and marketing budget cards, filters and KPI tiles">    </p:cNvPr>
          <p:cNvPicPr>
            <a:picLocks noChangeAspect="1"/>
          </p:cNvPicPr>
          <p:nvPr/>
        </p:nvPicPr>
        <p:blipFill>
          <a:blip r:embed="rId1"/>
          <a:stretch>
            <a:fillRect/>
          </a:stretch>
        </p:blipFill>
        <p:spPr>
          <a:xfrm>
            <a:off x="6172200" y="1700784"/>
            <a:ext cx="5577840" cy="34861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400" b="1" dirty="0">
                <a:solidFill>
                  <a:schemeClr val="tx1"/>
                </a:solidFill>
              </a:rPr>
              <a:t>One question, four decisions</a:t>
            </a:r>
            <a:endParaRPr lang="en-US" sz="3400" dirty="0"/>
          </a:p>
        </p:txBody>
      </p:sp>
      <p:sp>
        <p:nvSpPr>
          <p:cNvPr id="3" name="Text 0"/>
          <p:cNvSpPr/>
          <p:nvPr>
            <p:ph idx="101" type="body" hasCustomPrompt="1"/>
          </p:nvPr>
        </p:nvSpPr>
        <p:spPr>
          <a:xfrm>
            <a:off x="457200" y="960120"/>
            <a:ext cx="11277295" cy="384048"/>
          </a:xfrm>
          <a:prstGeom prst="rect">
            <a:avLst/>
          </a:prstGeom>
          <a:noFill/>
          <a:ln/>
        </p:spPr>
        <p:txBody>
          <a:bodyPr wrap="square" lIns="0" tIns="0" rIns="0" bIns="0" rtlCol="0" anchor="t"/>
          <a:lstStyle/>
          <a:p>
            <a:pPr algn="l" indent="0" marL="0">
              <a:buNone/>
            </a:pPr>
            <a:r>
              <a:rPr lang="en-US" sz="1600" dirty="0">
                <a:solidFill>
                  <a:schemeClr val="tx2"/>
                </a:solidFill>
              </a:rPr>
              <a:t>PromoPilot picks the promotion, audience, city and discount that earn the most extra profit</a:t>
            </a:r>
            <a:endParaRPr lang="en-US" sz="1600" dirty="0"/>
          </a:p>
        </p:txBody>
      </p:sp>
      <p:sp>
        <p:nvSpPr>
          <p:cNvPr id="5" name="Card: What to promote"/>
          <p:cNvSpPr/>
          <p:nvPr/>
        </p:nvSpPr>
        <p:spPr>
          <a:xfrm>
            <a:off x="457200" y="1645920"/>
            <a:ext cx="2613584" cy="2468880"/>
          </a:xfrm>
          <a:prstGeom prst="roundRect">
            <a:avLst>
              <a:gd name="adj" fmla="val 3704"/>
            </a:avLst>
          </a:prstGeom>
          <a:solidFill>
            <a:schemeClr val="bg2"/>
          </a:solidFill>
          <a:ln w="3175">
            <a:solidFill>
              <a:schemeClr val="bg2"/>
            </a:solidFill>
            <a:prstDash val="solid"/>
          </a:ln>
        </p:spPr>
      </p:sp>
      <p:sp>
        <p:nvSpPr>
          <p:cNvPr id="6" name="Shape 3"/>
          <p:cNvSpPr/>
          <p:nvPr/>
        </p:nvSpPr>
        <p:spPr>
          <a:xfrm>
            <a:off x="731520" y="1920240"/>
            <a:ext cx="640080" cy="640080"/>
          </a:xfrm>
          <a:prstGeom prst="ellipse">
            <a:avLst/>
          </a:prstGeom>
          <a:solidFill>
            <a:schemeClr val="accent1"/>
          </a:solidFill>
          <a:ln w="3175">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897941" y="2086661"/>
            <a:ext cx="307238" cy="307238"/>
          </a:xfrm>
          <a:prstGeom prst="rect">
            <a:avLst/>
          </a:prstGeom>
        </p:spPr>
      </p:pic>
      <p:sp>
        <p:nvSpPr>
          <p:cNvPr id="8" name="Text 4"/>
          <p:cNvSpPr txBox="1"/>
          <p:nvPr/>
        </p:nvSpPr>
        <p:spPr>
          <a:xfrm>
            <a:off x="731520" y="2743200"/>
            <a:ext cx="2156384" cy="365760"/>
          </a:xfrm>
          <a:prstGeom prst="rect">
            <a:avLst/>
          </a:prstGeom>
          <a:noFill/>
          <a:ln/>
        </p:spPr>
        <p:txBody>
          <a:bodyPr wrap="square" lIns="0" tIns="0" rIns="0" bIns="0" rtlCol="0" anchor="ctr"/>
          <a:lstStyle/>
          <a:p>
            <a:pPr indent="0" marL="0">
              <a:buNone/>
            </a:pPr>
            <a:r>
              <a:rPr lang="en-US" sz="2000" b="1" dirty="0">
                <a:solidFill>
                  <a:schemeClr val="tx1"/>
                </a:solidFill>
              </a:rPr>
              <a:t>What to promote</a:t>
            </a:r>
            <a:endParaRPr lang="en-US" sz="2000" dirty="0"/>
          </a:p>
        </p:txBody>
      </p:sp>
      <p:sp>
        <p:nvSpPr>
          <p:cNvPr id="9" name="Text 5"/>
          <p:cNvSpPr txBox="1"/>
          <p:nvPr/>
        </p:nvSpPr>
        <p:spPr>
          <a:xfrm>
            <a:off x="731520" y="3154680"/>
            <a:ext cx="2156384" cy="822960"/>
          </a:xfrm>
          <a:prstGeom prst="rect">
            <a:avLst/>
          </a:prstGeom>
          <a:noFill/>
          <a:ln/>
        </p:spPr>
        <p:txBody>
          <a:bodyPr wrap="square" lIns="0" tIns="0" rIns="0" bIns="0" rtlCol="0" anchor="t"/>
          <a:lstStyle/>
          <a:p>
            <a:pPr algn="l" indent="0" marL="0">
              <a:buNone/>
            </a:pPr>
            <a:r>
              <a:rPr lang="en-US" sz="1400" dirty="0">
                <a:solidFill>
                  <a:schemeClr val="tx2"/>
                </a:solidFill>
              </a:rPr>
              <a:t>20 products, each with its own cost price and MRP</a:t>
            </a:r>
            <a:endParaRPr lang="en-US" sz="1400" dirty="0"/>
          </a:p>
        </p:txBody>
      </p:sp>
      <p:sp>
        <p:nvSpPr>
          <p:cNvPr id="10" name="Card: Which segment"/>
          <p:cNvSpPr/>
          <p:nvPr/>
        </p:nvSpPr>
        <p:spPr>
          <a:xfrm>
            <a:off x="3345104" y="1645920"/>
            <a:ext cx="2613584" cy="2468880"/>
          </a:xfrm>
          <a:prstGeom prst="roundRect">
            <a:avLst>
              <a:gd name="adj" fmla="val 3704"/>
            </a:avLst>
          </a:prstGeom>
          <a:solidFill>
            <a:schemeClr val="bg2"/>
          </a:solidFill>
          <a:ln w="3175">
            <a:solidFill>
              <a:schemeClr val="bg2"/>
            </a:solidFill>
            <a:prstDash val="solid"/>
          </a:ln>
        </p:spPr>
      </p:sp>
      <p:sp>
        <p:nvSpPr>
          <p:cNvPr id="11" name="Shape 7"/>
          <p:cNvSpPr/>
          <p:nvPr/>
        </p:nvSpPr>
        <p:spPr>
          <a:xfrm>
            <a:off x="3619424" y="1920240"/>
            <a:ext cx="640080" cy="640080"/>
          </a:xfrm>
          <a:prstGeom prst="ellipse">
            <a:avLst/>
          </a:prstGeom>
          <a:solidFill>
            <a:schemeClr val="accent5"/>
          </a:solidFill>
          <a:ln w="3175">
            <a:solidFill>
              <a:schemeClr val="accent5"/>
            </a:solidFill>
            <a:prstDash val="solid"/>
          </a:ln>
        </p:spPr>
      </p:sp>
      <p:pic>
        <p:nvPicPr>
          <p:cNvPr id="12" name="Image 1" descr="preencoded.png">    </p:cNvPr>
          <p:cNvPicPr>
            <a:picLocks noChangeAspect="1"/>
          </p:cNvPicPr>
          <p:nvPr/>
        </p:nvPicPr>
        <p:blipFill>
          <a:blip r:embed="rId2"/>
          <a:stretch>
            <a:fillRect/>
          </a:stretch>
        </p:blipFill>
        <p:spPr>
          <a:xfrm>
            <a:off x="3785845" y="2086661"/>
            <a:ext cx="307238" cy="307238"/>
          </a:xfrm>
          <a:prstGeom prst="rect">
            <a:avLst/>
          </a:prstGeom>
        </p:spPr>
      </p:pic>
      <p:sp>
        <p:nvSpPr>
          <p:cNvPr id="13" name="Text 8"/>
          <p:cNvSpPr txBox="1"/>
          <p:nvPr/>
        </p:nvSpPr>
        <p:spPr>
          <a:xfrm>
            <a:off x="3619424" y="2743200"/>
            <a:ext cx="2156384" cy="365760"/>
          </a:xfrm>
          <a:prstGeom prst="rect">
            <a:avLst/>
          </a:prstGeom>
          <a:noFill/>
          <a:ln/>
        </p:spPr>
        <p:txBody>
          <a:bodyPr wrap="square" lIns="0" tIns="0" rIns="0" bIns="0" rtlCol="0" anchor="ctr"/>
          <a:lstStyle/>
          <a:p>
            <a:pPr indent="0" marL="0">
              <a:buNone/>
            </a:pPr>
            <a:r>
              <a:rPr lang="en-US" sz="2000" b="1" dirty="0">
                <a:solidFill>
                  <a:schemeClr val="tx1"/>
                </a:solidFill>
              </a:rPr>
              <a:t>Which segment</a:t>
            </a:r>
            <a:endParaRPr lang="en-US" sz="2000" dirty="0"/>
          </a:p>
        </p:txBody>
      </p:sp>
      <p:sp>
        <p:nvSpPr>
          <p:cNvPr id="14" name="Text 9"/>
          <p:cNvSpPr txBox="1"/>
          <p:nvPr/>
        </p:nvSpPr>
        <p:spPr>
          <a:xfrm>
            <a:off x="3619424" y="3154680"/>
            <a:ext cx="2156384" cy="822960"/>
          </a:xfrm>
          <a:prstGeom prst="rect">
            <a:avLst/>
          </a:prstGeom>
          <a:noFill/>
          <a:ln/>
        </p:spPr>
        <p:txBody>
          <a:bodyPr wrap="square" lIns="0" tIns="0" rIns="0" bIns="0" rtlCol="0" anchor="t"/>
          <a:lstStyle/>
          <a:p>
            <a:pPr algn="l" indent="0" marL="0">
              <a:buNone/>
            </a:pPr>
            <a:r>
              <a:rPr lang="en-US" sz="1400" dirty="0">
                <a:solidFill>
                  <a:schemeClr val="tx2"/>
                </a:solidFill>
              </a:rPr>
              <a:t>Students, Professionals, Families and Premium customers</a:t>
            </a:r>
            <a:endParaRPr lang="en-US" sz="1400" dirty="0"/>
          </a:p>
        </p:txBody>
      </p:sp>
      <p:sp>
        <p:nvSpPr>
          <p:cNvPr id="15" name="Card: Which city"/>
          <p:cNvSpPr/>
          <p:nvPr/>
        </p:nvSpPr>
        <p:spPr>
          <a:xfrm>
            <a:off x="6233008" y="1645920"/>
            <a:ext cx="2613584" cy="2468880"/>
          </a:xfrm>
          <a:prstGeom prst="roundRect">
            <a:avLst>
              <a:gd name="adj" fmla="val 3704"/>
            </a:avLst>
          </a:prstGeom>
          <a:solidFill>
            <a:schemeClr val="bg2"/>
          </a:solidFill>
          <a:ln w="3175">
            <a:solidFill>
              <a:schemeClr val="bg2"/>
            </a:solidFill>
            <a:prstDash val="solid"/>
          </a:ln>
        </p:spPr>
      </p:sp>
      <p:sp>
        <p:nvSpPr>
          <p:cNvPr id="16" name="Shape 11"/>
          <p:cNvSpPr/>
          <p:nvPr/>
        </p:nvSpPr>
        <p:spPr>
          <a:xfrm>
            <a:off x="6507328" y="1920240"/>
            <a:ext cx="640080" cy="640080"/>
          </a:xfrm>
          <a:prstGeom prst="ellipse">
            <a:avLst/>
          </a:prstGeom>
          <a:solidFill>
            <a:schemeClr val="accent2"/>
          </a:solidFill>
          <a:ln w="3175">
            <a:solidFill>
              <a:schemeClr val="accent2"/>
            </a:solidFill>
            <a:prstDash val="solid"/>
          </a:ln>
        </p:spPr>
      </p:sp>
      <p:pic>
        <p:nvPicPr>
          <p:cNvPr id="17" name="Image 2" descr="preencoded.png">    </p:cNvPr>
          <p:cNvPicPr>
            <a:picLocks noChangeAspect="1"/>
          </p:cNvPicPr>
          <p:nvPr/>
        </p:nvPicPr>
        <p:blipFill>
          <a:blip r:embed="rId3"/>
          <a:stretch>
            <a:fillRect/>
          </a:stretch>
        </p:blipFill>
        <p:spPr>
          <a:xfrm>
            <a:off x="6673748" y="2086661"/>
            <a:ext cx="307238" cy="307238"/>
          </a:xfrm>
          <a:prstGeom prst="rect">
            <a:avLst/>
          </a:prstGeom>
        </p:spPr>
      </p:pic>
      <p:sp>
        <p:nvSpPr>
          <p:cNvPr id="18" name="Text 12"/>
          <p:cNvSpPr txBox="1"/>
          <p:nvPr/>
        </p:nvSpPr>
        <p:spPr>
          <a:xfrm>
            <a:off x="6507328" y="2743200"/>
            <a:ext cx="2156384" cy="365760"/>
          </a:xfrm>
          <a:prstGeom prst="rect">
            <a:avLst/>
          </a:prstGeom>
          <a:noFill/>
          <a:ln/>
        </p:spPr>
        <p:txBody>
          <a:bodyPr wrap="square" lIns="0" tIns="0" rIns="0" bIns="0" rtlCol="0" anchor="ctr"/>
          <a:lstStyle/>
          <a:p>
            <a:pPr indent="0" marL="0">
              <a:buNone/>
            </a:pPr>
            <a:r>
              <a:rPr lang="en-US" sz="2000" b="1" dirty="0">
                <a:solidFill>
                  <a:schemeClr val="tx1"/>
                </a:solidFill>
              </a:rPr>
              <a:t>Which city</a:t>
            </a:r>
            <a:endParaRPr lang="en-US" sz="2000" dirty="0"/>
          </a:p>
        </p:txBody>
      </p:sp>
      <p:sp>
        <p:nvSpPr>
          <p:cNvPr id="19" name="Text 13"/>
          <p:cNvSpPr txBox="1"/>
          <p:nvPr/>
        </p:nvSpPr>
        <p:spPr>
          <a:xfrm>
            <a:off x="6507328" y="3154680"/>
            <a:ext cx="2156384" cy="822960"/>
          </a:xfrm>
          <a:prstGeom prst="rect">
            <a:avLst/>
          </a:prstGeom>
          <a:noFill/>
          <a:ln/>
        </p:spPr>
        <p:txBody>
          <a:bodyPr wrap="square" lIns="0" tIns="0" rIns="0" bIns="0" rtlCol="0" anchor="t"/>
          <a:lstStyle/>
          <a:p>
            <a:pPr algn="l" indent="0" marL="0">
              <a:buNone/>
            </a:pPr>
            <a:r>
              <a:rPr lang="en-US" sz="1400" dirty="0">
                <a:solidFill>
                  <a:schemeClr val="tx2"/>
                </a:solidFill>
              </a:rPr>
              <a:t>Hyderabad, Bangalore, Mumbai, Delhi and Chennai, each with its own stock</a:t>
            </a:r>
            <a:endParaRPr lang="en-US" sz="1400" dirty="0"/>
          </a:p>
        </p:txBody>
      </p:sp>
      <p:sp>
        <p:nvSpPr>
          <p:cNvPr id="20" name="Card: What discount"/>
          <p:cNvSpPr/>
          <p:nvPr/>
        </p:nvSpPr>
        <p:spPr>
          <a:xfrm>
            <a:off x="9120911" y="1645920"/>
            <a:ext cx="2613584" cy="2468880"/>
          </a:xfrm>
          <a:prstGeom prst="roundRect">
            <a:avLst>
              <a:gd name="adj" fmla="val 3704"/>
            </a:avLst>
          </a:prstGeom>
          <a:solidFill>
            <a:schemeClr val="bg2"/>
          </a:solidFill>
          <a:ln w="3175">
            <a:solidFill>
              <a:schemeClr val="bg2"/>
            </a:solidFill>
            <a:prstDash val="solid"/>
          </a:ln>
        </p:spPr>
      </p:sp>
      <p:sp>
        <p:nvSpPr>
          <p:cNvPr id="21" name="Shape 15"/>
          <p:cNvSpPr/>
          <p:nvPr/>
        </p:nvSpPr>
        <p:spPr>
          <a:xfrm>
            <a:off x="9395231" y="1920240"/>
            <a:ext cx="640080" cy="640080"/>
          </a:xfrm>
          <a:prstGeom prst="ellipse">
            <a:avLst/>
          </a:prstGeom>
          <a:solidFill>
            <a:schemeClr val="accent3"/>
          </a:solidFill>
          <a:ln w="3175">
            <a:solidFill>
              <a:schemeClr val="accent3"/>
            </a:solidFill>
            <a:prstDash val="solid"/>
          </a:ln>
        </p:spPr>
      </p:sp>
      <p:pic>
        <p:nvPicPr>
          <p:cNvPr id="22" name="Image 3" descr="preencoded.png">    </p:cNvPr>
          <p:cNvPicPr>
            <a:picLocks noChangeAspect="1"/>
          </p:cNvPicPr>
          <p:nvPr/>
        </p:nvPicPr>
        <p:blipFill>
          <a:blip r:embed="rId4"/>
          <a:stretch>
            <a:fillRect/>
          </a:stretch>
        </p:blipFill>
        <p:spPr>
          <a:xfrm>
            <a:off x="9561652" y="2086661"/>
            <a:ext cx="307238" cy="307238"/>
          </a:xfrm>
          <a:prstGeom prst="rect">
            <a:avLst/>
          </a:prstGeom>
        </p:spPr>
      </p:pic>
      <p:sp>
        <p:nvSpPr>
          <p:cNvPr id="23" name="Text 16"/>
          <p:cNvSpPr txBox="1"/>
          <p:nvPr/>
        </p:nvSpPr>
        <p:spPr>
          <a:xfrm>
            <a:off x="9395231" y="2743200"/>
            <a:ext cx="2156384" cy="365760"/>
          </a:xfrm>
          <a:prstGeom prst="rect">
            <a:avLst/>
          </a:prstGeom>
          <a:noFill/>
          <a:ln/>
        </p:spPr>
        <p:txBody>
          <a:bodyPr wrap="square" lIns="0" tIns="0" rIns="0" bIns="0" rtlCol="0" anchor="ctr"/>
          <a:lstStyle/>
          <a:p>
            <a:pPr indent="0" marL="0">
              <a:buNone/>
            </a:pPr>
            <a:r>
              <a:rPr lang="en-US" sz="2000" b="1" dirty="0">
                <a:solidFill>
                  <a:schemeClr val="tx1"/>
                </a:solidFill>
              </a:rPr>
              <a:t>What discount</a:t>
            </a:r>
            <a:endParaRPr lang="en-US" sz="2000" dirty="0"/>
          </a:p>
        </p:txBody>
      </p:sp>
      <p:sp>
        <p:nvSpPr>
          <p:cNvPr id="24" name="Text 17"/>
          <p:cNvSpPr txBox="1"/>
          <p:nvPr/>
        </p:nvSpPr>
        <p:spPr>
          <a:xfrm>
            <a:off x="9395231" y="3154680"/>
            <a:ext cx="2156384" cy="822960"/>
          </a:xfrm>
          <a:prstGeom prst="rect">
            <a:avLst/>
          </a:prstGeom>
          <a:noFill/>
          <a:ln/>
        </p:spPr>
        <p:txBody>
          <a:bodyPr wrap="square" lIns="0" tIns="0" rIns="0" bIns="0" rtlCol="0" anchor="t"/>
          <a:lstStyle/>
          <a:p>
            <a:pPr algn="l" indent="0" marL="0">
              <a:buNone/>
            </a:pPr>
            <a:r>
              <a:rPr lang="en-US" sz="1400" dirty="0">
                <a:solidFill>
                  <a:schemeClr val="tx2"/>
                </a:solidFill>
              </a:rPr>
              <a:t>Only offers between cost + 5% and MRP are legal</a:t>
            </a:r>
            <a:endParaRPr lang="en-US" sz="1400" dirty="0"/>
          </a:p>
        </p:txBody>
      </p:sp>
      <p:sp>
        <p:nvSpPr>
          <p:cNvPr id="25" name="Candidates tile"/>
          <p:cNvSpPr/>
          <p:nvPr/>
        </p:nvSpPr>
        <p:spPr>
          <a:xfrm>
            <a:off x="457200" y="4434840"/>
            <a:ext cx="3017520" cy="1783080"/>
          </a:xfrm>
          <a:prstGeom prst="roundRect">
            <a:avLst>
              <a:gd name="adj" fmla="val 5128"/>
            </a:avLst>
          </a:prstGeom>
          <a:solidFill>
            <a:schemeClr val="tx1"/>
          </a:solidFill>
          <a:ln w="3175">
            <a:solidFill>
              <a:schemeClr val="tx1"/>
            </a:solidFill>
            <a:prstDash val="solid"/>
          </a:ln>
        </p:spPr>
      </p:sp>
      <p:sp>
        <p:nvSpPr>
          <p:cNvPr id="26" name="Text 19"/>
          <p:cNvSpPr txBox="1"/>
          <p:nvPr/>
        </p:nvSpPr>
        <p:spPr>
          <a:xfrm>
            <a:off x="731520" y="4572000"/>
            <a:ext cx="2560320" cy="822960"/>
          </a:xfrm>
          <a:prstGeom prst="rect">
            <a:avLst/>
          </a:prstGeom>
          <a:noFill/>
          <a:ln/>
        </p:spPr>
        <p:txBody>
          <a:bodyPr wrap="square" lIns="0" tIns="0" rIns="0" bIns="0" rtlCol="0" anchor="ctr"/>
          <a:lstStyle/>
          <a:p>
            <a:pPr indent="0" marL="0">
              <a:buNone/>
            </a:pPr>
            <a:r>
              <a:rPr lang="en-US" sz="5400" b="1" dirty="0">
                <a:solidFill>
                  <a:schemeClr val="bg1"/>
                </a:solidFill>
                <a:latin typeface="Calibri" pitchFamily="34" charset="0"/>
                <a:ea typeface="Calibri" pitchFamily="34" charset="-122"/>
                <a:cs typeface="Calibri" pitchFamily="34" charset="-120"/>
              </a:rPr>
              <a:t>400</a:t>
            </a:r>
            <a:endParaRPr lang="en-US" sz="5400" dirty="0"/>
          </a:p>
        </p:txBody>
      </p:sp>
      <p:sp>
        <p:nvSpPr>
          <p:cNvPr id="27" name="Text 20"/>
          <p:cNvSpPr txBox="1"/>
          <p:nvPr/>
        </p:nvSpPr>
        <p:spPr>
          <a:xfrm>
            <a:off x="731520" y="5440680"/>
            <a:ext cx="2560320" cy="640080"/>
          </a:xfrm>
          <a:prstGeom prst="rect">
            <a:avLst/>
          </a:prstGeom>
          <a:noFill/>
          <a:ln/>
        </p:spPr>
        <p:txBody>
          <a:bodyPr wrap="square" lIns="0" tIns="0" rIns="0" bIns="0" rtlCol="0" anchor="t"/>
          <a:lstStyle/>
          <a:p>
            <a:pPr algn="l" indent="0" marL="0">
              <a:buNone/>
            </a:pPr>
            <a:r>
              <a:rPr lang="en-US" sz="1400" dirty="0">
                <a:solidFill>
                  <a:schemeClr val="bg2"/>
                </a:solidFill>
              </a:rPr>
              <a:t>candidates evaluated: 20 products × 4 segments × 5 cities</a:t>
            </a:r>
            <a:endParaRPr lang="en-US" sz="1400" dirty="0"/>
          </a:p>
        </p:txBody>
      </p:sp>
      <p:sp>
        <p:nvSpPr>
          <p:cNvPr id="28" name="Tile: In the plan"/>
          <p:cNvSpPr/>
          <p:nvPr/>
        </p:nvSpPr>
        <p:spPr>
          <a:xfrm>
            <a:off x="3749040" y="4434840"/>
            <a:ext cx="2478938" cy="1783080"/>
          </a:xfrm>
          <a:prstGeom prst="roundRect">
            <a:avLst>
              <a:gd name="adj" fmla="val 5128"/>
            </a:avLst>
          </a:prstGeom>
          <a:solidFill>
            <a:schemeClr val="bg2"/>
          </a:solidFill>
          <a:ln w="3175">
            <a:solidFill>
              <a:schemeClr val="bg2"/>
            </a:solidFill>
            <a:prstDash val="solid"/>
          </a:ln>
        </p:spPr>
      </p:sp>
      <p:sp>
        <p:nvSpPr>
          <p:cNvPr id="29" name="Text 22"/>
          <p:cNvSpPr txBox="1"/>
          <p:nvPr/>
        </p:nvSpPr>
        <p:spPr>
          <a:xfrm>
            <a:off x="4023360" y="4572000"/>
            <a:ext cx="2021738" cy="822960"/>
          </a:xfrm>
          <a:prstGeom prst="rect">
            <a:avLst/>
          </a:prstGeom>
          <a:noFill/>
          <a:ln/>
        </p:spPr>
        <p:txBody>
          <a:bodyPr wrap="square" lIns="0" tIns="0" rIns="0" bIns="0" rtlCol="0" anchor="ctr"/>
          <a:lstStyle/>
          <a:p>
            <a:pPr indent="0" marL="0">
              <a:buNone/>
            </a:pPr>
            <a:r>
              <a:rPr lang="en-US" sz="5400" b="1" dirty="0">
                <a:solidFill>
                  <a:schemeClr val="accent2"/>
                </a:solidFill>
                <a:latin typeface="Calibri" pitchFamily="34" charset="0"/>
                <a:ea typeface="Calibri" pitchFamily="34" charset="-122"/>
                <a:cs typeface="Calibri" pitchFamily="34" charset="-120"/>
              </a:rPr>
              <a:t>36</a:t>
            </a:r>
            <a:endParaRPr lang="en-US" sz="5400" dirty="0"/>
          </a:p>
        </p:txBody>
      </p:sp>
      <p:sp>
        <p:nvSpPr>
          <p:cNvPr id="30" name="Text 23"/>
          <p:cNvSpPr txBox="1"/>
          <p:nvPr/>
        </p:nvSpPr>
        <p:spPr>
          <a:xfrm>
            <a:off x="4023360" y="5440680"/>
            <a:ext cx="2021738" cy="685800"/>
          </a:xfrm>
          <a:prstGeom prst="rect">
            <a:avLst/>
          </a:prstGeom>
          <a:noFill/>
          <a:ln/>
        </p:spPr>
        <p:txBody>
          <a:bodyPr wrap="square" lIns="0" tIns="0" rIns="0" bIns="0" rtlCol="0" anchor="t"/>
          <a:lstStyle/>
          <a:p>
            <a:pPr algn="l" indent="0" marL="0">
              <a:buNone/>
            </a:pPr>
            <a:r>
              <a:rPr lang="en-US" sz="1600" b="1" dirty="0">
                <a:solidFill>
                  <a:schemeClr val="tx1"/>
                </a:solidFill>
              </a:rPr>
              <a:t>In the plan</a:t>
            </a:r>
            <a:endParaRPr lang="en-US" sz="1600" dirty="0"/>
          </a:p>
          <a:p>
            <a:pPr algn="l" indent="0" marL="0">
              <a:buNone/>
            </a:pPr>
            <a:r>
              <a:rPr lang="en-US" sz="1400" dirty="0">
                <a:solidFill>
                  <a:schemeClr val="tx2"/>
                </a:solidFill>
              </a:rPr>
              <a:t>Fit the budget and the stock</a:t>
            </a:r>
            <a:endParaRPr lang="en-US" sz="1600" dirty="0"/>
          </a:p>
        </p:txBody>
      </p:sp>
      <p:sp>
        <p:nvSpPr>
          <p:cNvPr id="31" name="Tile: Not funded"/>
          <p:cNvSpPr/>
          <p:nvPr/>
        </p:nvSpPr>
        <p:spPr>
          <a:xfrm>
            <a:off x="6502298" y="4434840"/>
            <a:ext cx="2478938" cy="1783080"/>
          </a:xfrm>
          <a:prstGeom prst="roundRect">
            <a:avLst>
              <a:gd name="adj" fmla="val 5128"/>
            </a:avLst>
          </a:prstGeom>
          <a:solidFill>
            <a:schemeClr val="bg2"/>
          </a:solidFill>
          <a:ln w="3175">
            <a:solidFill>
              <a:schemeClr val="bg2"/>
            </a:solidFill>
            <a:prstDash val="solid"/>
          </a:ln>
        </p:spPr>
      </p:sp>
      <p:sp>
        <p:nvSpPr>
          <p:cNvPr id="32" name="Text 25"/>
          <p:cNvSpPr txBox="1"/>
          <p:nvPr/>
        </p:nvSpPr>
        <p:spPr>
          <a:xfrm>
            <a:off x="6776618" y="4572000"/>
            <a:ext cx="2021738" cy="822960"/>
          </a:xfrm>
          <a:prstGeom prst="rect">
            <a:avLst/>
          </a:prstGeom>
          <a:noFill/>
          <a:ln/>
        </p:spPr>
        <p:txBody>
          <a:bodyPr wrap="square" lIns="0" tIns="0" rIns="0" bIns="0" rtlCol="0" anchor="ctr"/>
          <a:lstStyle/>
          <a:p>
            <a:pPr indent="0" marL="0">
              <a:buNone/>
            </a:pPr>
            <a:r>
              <a:rPr lang="en-US" sz="5400" b="1" dirty="0">
                <a:solidFill>
                  <a:schemeClr val="accent3"/>
                </a:solidFill>
                <a:latin typeface="Calibri" pitchFamily="34" charset="0"/>
                <a:ea typeface="Calibri" pitchFamily="34" charset="-122"/>
                <a:cs typeface="Calibri" pitchFamily="34" charset="-120"/>
              </a:rPr>
              <a:t>55</a:t>
            </a:r>
            <a:endParaRPr lang="en-US" sz="5400" dirty="0"/>
          </a:p>
        </p:txBody>
      </p:sp>
      <p:sp>
        <p:nvSpPr>
          <p:cNvPr id="33" name="Text 26"/>
          <p:cNvSpPr txBox="1"/>
          <p:nvPr/>
        </p:nvSpPr>
        <p:spPr>
          <a:xfrm>
            <a:off x="6776618" y="5440680"/>
            <a:ext cx="2021738" cy="685800"/>
          </a:xfrm>
          <a:prstGeom prst="rect">
            <a:avLst/>
          </a:prstGeom>
          <a:noFill/>
          <a:ln/>
        </p:spPr>
        <p:txBody>
          <a:bodyPr wrap="square" lIns="0" tIns="0" rIns="0" bIns="0" rtlCol="0" anchor="t"/>
          <a:lstStyle/>
          <a:p>
            <a:pPr algn="l" indent="0" marL="0">
              <a:buNone/>
            </a:pPr>
            <a:r>
              <a:rPr lang="en-US" sz="1600" b="1" dirty="0">
                <a:solidFill>
                  <a:schemeClr val="tx1"/>
                </a:solidFill>
              </a:rPr>
              <a:t>Not funded</a:t>
            </a:r>
            <a:endParaRPr lang="en-US" sz="1600" dirty="0"/>
          </a:p>
          <a:p>
            <a:pPr algn="l" indent="0" marL="0">
              <a:buNone/>
            </a:pPr>
            <a:r>
              <a:rPr lang="en-US" sz="1400" dirty="0">
                <a:solidFill>
                  <a:schemeClr val="tx2"/>
                </a:solidFill>
              </a:rPr>
              <a:t>Good, but budget or stock ran out</a:t>
            </a:r>
            <a:endParaRPr lang="en-US" sz="1600" dirty="0"/>
          </a:p>
        </p:txBody>
      </p:sp>
      <p:sp>
        <p:nvSpPr>
          <p:cNvPr id="34" name="Tile: Rejected"/>
          <p:cNvSpPr/>
          <p:nvPr/>
        </p:nvSpPr>
        <p:spPr>
          <a:xfrm>
            <a:off x="9255557" y="4434840"/>
            <a:ext cx="2478938" cy="1783080"/>
          </a:xfrm>
          <a:prstGeom prst="roundRect">
            <a:avLst>
              <a:gd name="adj" fmla="val 5128"/>
            </a:avLst>
          </a:prstGeom>
          <a:solidFill>
            <a:schemeClr val="bg2"/>
          </a:solidFill>
          <a:ln w="3175">
            <a:solidFill>
              <a:schemeClr val="bg2"/>
            </a:solidFill>
            <a:prstDash val="solid"/>
          </a:ln>
        </p:spPr>
      </p:sp>
      <p:sp>
        <p:nvSpPr>
          <p:cNvPr id="35" name="Text 28"/>
          <p:cNvSpPr txBox="1"/>
          <p:nvPr/>
        </p:nvSpPr>
        <p:spPr>
          <a:xfrm>
            <a:off x="9529877" y="4572000"/>
            <a:ext cx="2021738" cy="822960"/>
          </a:xfrm>
          <a:prstGeom prst="rect">
            <a:avLst/>
          </a:prstGeom>
          <a:noFill/>
          <a:ln/>
        </p:spPr>
        <p:txBody>
          <a:bodyPr wrap="square" lIns="0" tIns="0" rIns="0" bIns="0" rtlCol="0" anchor="ctr"/>
          <a:lstStyle/>
          <a:p>
            <a:pPr indent="0" marL="0">
              <a:buNone/>
            </a:pPr>
            <a:r>
              <a:rPr lang="en-US" sz="5400" b="1" dirty="0">
                <a:solidFill>
                  <a:schemeClr val="accent4"/>
                </a:solidFill>
                <a:latin typeface="Calibri" pitchFamily="34" charset="0"/>
                <a:ea typeface="Calibri" pitchFamily="34" charset="-122"/>
                <a:cs typeface="Calibri" pitchFamily="34" charset="-120"/>
              </a:rPr>
              <a:t>309</a:t>
            </a:r>
            <a:endParaRPr lang="en-US" sz="5400" dirty="0"/>
          </a:p>
        </p:txBody>
      </p:sp>
      <p:sp>
        <p:nvSpPr>
          <p:cNvPr id="36" name="Text 29"/>
          <p:cNvSpPr txBox="1"/>
          <p:nvPr/>
        </p:nvSpPr>
        <p:spPr>
          <a:xfrm>
            <a:off x="9529877" y="5440680"/>
            <a:ext cx="2021738" cy="685800"/>
          </a:xfrm>
          <a:prstGeom prst="rect">
            <a:avLst/>
          </a:prstGeom>
          <a:noFill/>
          <a:ln/>
        </p:spPr>
        <p:txBody>
          <a:bodyPr wrap="square" lIns="0" tIns="0" rIns="0" bIns="0" rtlCol="0" anchor="t"/>
          <a:lstStyle/>
          <a:p>
            <a:pPr algn="l" indent="0" marL="0">
              <a:buNone/>
            </a:pPr>
            <a:r>
              <a:rPr lang="en-US" sz="1600" b="1" dirty="0">
                <a:solidFill>
                  <a:schemeClr val="tx1"/>
                </a:solidFill>
              </a:rPr>
              <a:t>Rejected</a:t>
            </a:r>
            <a:endParaRPr lang="en-US" sz="1600" dirty="0"/>
          </a:p>
          <a:p>
            <a:pPr algn="l" indent="0" marL="0">
              <a:buNone/>
            </a:pPr>
            <a:r>
              <a:rPr lang="en-US" sz="1400" dirty="0">
                <a:solidFill>
                  <a:schemeClr val="tx2"/>
                </a:solidFill>
              </a:rPr>
              <a:t>Each one comes with a reason</a:t>
            </a:r>
            <a:endParaRPr lang="en-US" sz="1600" dirty="0"/>
          </a:p>
        </p:txBody>
      </p:sp>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400" b="1" dirty="0">
                <a:solidFill>
                  <a:schemeClr val="tx1"/>
                </a:solidFill>
              </a:rPr>
              <a:t>Dashboard: the plan vs doing nothing</a:t>
            </a:r>
            <a:endParaRPr lang="en-US" sz="3400" dirty="0"/>
          </a:p>
        </p:txBody>
      </p:sp>
      <p:sp>
        <p:nvSpPr>
          <p:cNvPr id="3" name="Text 0"/>
          <p:cNvSpPr/>
          <p:nvPr>
            <p:ph idx="101" type="body" hasCustomPrompt="1"/>
          </p:nvPr>
        </p:nvSpPr>
        <p:spPr>
          <a:xfrm>
            <a:off x="457200" y="960120"/>
            <a:ext cx="11277295" cy="384048"/>
          </a:xfrm>
          <a:prstGeom prst="rect">
            <a:avLst/>
          </a:prstGeom>
          <a:noFill/>
          <a:ln/>
        </p:spPr>
        <p:txBody>
          <a:bodyPr wrap="square" lIns="0" tIns="0" rIns="0" bIns="0" rtlCol="0" anchor="t"/>
          <a:lstStyle/>
          <a:p>
            <a:pPr algn="l" indent="0" marL="0">
              <a:buNone/>
            </a:pPr>
            <a:r>
              <a:rPr lang="en-US" sz="1600" dirty="0">
                <a:solidFill>
                  <a:schemeClr val="tx2"/>
                </a:solidFill>
              </a:rPr>
              <a:t>Baseline ₹1.81Cr becomes ₹1.86Cr: +₹5,27,133 (+2.91%) inside a ₹2.0L marketing budget</a:t>
            </a:r>
            <a:endParaRPr lang="en-US" sz="1600" dirty="0"/>
          </a:p>
        </p:txBody>
      </p:sp>
      <p:sp>
        <p:nvSpPr>
          <p:cNvPr id="5" name="Frame: dash_top"/>
          <p:cNvSpPr/>
          <p:nvPr/>
        </p:nvSpPr>
        <p:spPr>
          <a:xfrm>
            <a:off x="457200" y="1508760"/>
            <a:ext cx="11277295" cy="4721252"/>
          </a:xfrm>
          <a:prstGeom prst="rect">
            <a:avLst/>
          </a:prstGeom>
          <a:solidFill>
            <a:schemeClr val="bg1"/>
          </a:solidFill>
          <a:ln w="9525">
            <a:solidFill>
              <a:schemeClr val="bg2"/>
            </a:solidFill>
            <a:prstDash val="solid"/>
          </a:ln>
          <a:effectLst>
            <a:outerShdw sx="100000" sy="100000" kx="0" ky="0" algn="bl" rotWithShape="0" blurRad="114300" dist="38100" dir="5400000">
              <a:srgbClr val="0F172A">
                <a:alpha val="16000"/>
              </a:srgbClr>
            </a:outerShdw>
          </a:effectLst>
        </p:spPr>
      </p:sp>
      <p:sp>
        <p:nvSpPr>
          <p:cNvPr id="6" name="Window bar: dash_top"/>
          <p:cNvSpPr/>
          <p:nvPr/>
        </p:nvSpPr>
        <p:spPr>
          <a:xfrm>
            <a:off x="457200" y="1508760"/>
            <a:ext cx="11277295" cy="237744"/>
          </a:xfrm>
          <a:prstGeom prst="rect">
            <a:avLst/>
          </a:prstGeom>
          <a:solidFill>
            <a:schemeClr val="tx1"/>
          </a:solidFill>
          <a:ln w="6350">
            <a:solidFill>
              <a:schemeClr val="tx1"/>
            </a:solidFill>
            <a:prstDash val="solid"/>
          </a:ln>
        </p:spPr>
      </p:sp>
      <p:sp>
        <p:nvSpPr>
          <p:cNvPr id="7" name="Shape 4"/>
          <p:cNvSpPr/>
          <p:nvPr/>
        </p:nvSpPr>
        <p:spPr>
          <a:xfrm>
            <a:off x="566928" y="1591056"/>
            <a:ext cx="82296" cy="82296"/>
          </a:xfrm>
          <a:prstGeom prst="ellipse">
            <a:avLst/>
          </a:prstGeom>
          <a:solidFill>
            <a:schemeClr val="accent4"/>
          </a:solidFill>
          <a:ln w="3175">
            <a:solidFill>
              <a:schemeClr val="accent4"/>
            </a:solidFill>
            <a:prstDash val="solid"/>
          </a:ln>
        </p:spPr>
      </p:sp>
      <p:sp>
        <p:nvSpPr>
          <p:cNvPr id="8" name="Shape 5"/>
          <p:cNvSpPr/>
          <p:nvPr/>
        </p:nvSpPr>
        <p:spPr>
          <a:xfrm>
            <a:off x="713232" y="1591056"/>
            <a:ext cx="82296" cy="82296"/>
          </a:xfrm>
          <a:prstGeom prst="ellipse">
            <a:avLst/>
          </a:prstGeom>
          <a:solidFill>
            <a:schemeClr val="accent3"/>
          </a:solidFill>
          <a:ln w="3175">
            <a:solidFill>
              <a:schemeClr val="accent3"/>
            </a:solidFill>
            <a:prstDash val="solid"/>
          </a:ln>
        </p:spPr>
      </p:sp>
      <p:sp>
        <p:nvSpPr>
          <p:cNvPr id="9" name="Shape 6"/>
          <p:cNvSpPr/>
          <p:nvPr/>
        </p:nvSpPr>
        <p:spPr>
          <a:xfrm>
            <a:off x="859536" y="1591056"/>
            <a:ext cx="82296" cy="82296"/>
          </a:xfrm>
          <a:prstGeom prst="ellipse">
            <a:avLst/>
          </a:prstGeom>
          <a:solidFill>
            <a:schemeClr val="accent2"/>
          </a:solidFill>
          <a:ln w="3175">
            <a:solidFill>
              <a:schemeClr val="accent2"/>
            </a:solidFill>
            <a:prstDash val="solid"/>
          </a:ln>
        </p:spPr>
      </p:sp>
      <p:sp>
        <p:nvSpPr>
          <p:cNvPr id="10" name="URL: dash_top"/>
          <p:cNvSpPr txBox="1"/>
          <p:nvPr/>
        </p:nvSpPr>
        <p:spPr>
          <a:xfrm>
            <a:off x="1097280" y="1508760"/>
            <a:ext cx="10454335" cy="237744"/>
          </a:xfrm>
          <a:prstGeom prst="rect">
            <a:avLst/>
          </a:prstGeom>
          <a:noFill/>
          <a:ln/>
        </p:spPr>
        <p:txBody>
          <a:bodyPr wrap="square" lIns="0" tIns="0" rIns="0" bIns="0" rtlCol="0" anchor="ctr"/>
          <a:lstStyle/>
          <a:p>
            <a:pPr algn="l" indent="0" marL="0">
              <a:buNone/>
            </a:pPr>
            <a:r>
              <a:rPr lang="en-US" sz="1000" dirty="0">
                <a:solidFill>
                  <a:schemeClr val="bg2"/>
                </a:solidFill>
              </a:rPr>
              <a:t>localhost:3000/dashboard</a:t>
            </a:r>
            <a:endParaRPr lang="en-US" sz="1000" dirty="0"/>
          </a:p>
        </p:txBody>
      </p:sp>
      <p:pic>
        <p:nvPicPr>
          <p:cNvPr id="11" name="Screenshot: dash_top" descr="Dashboard headline cards: baseline profit, projected profit, incremental profit and budget, followed by filters and six KPI tiles">    </p:cNvPr>
          <p:cNvPicPr>
            <a:picLocks noChangeAspect="1"/>
          </p:cNvPicPr>
          <p:nvPr/>
        </p:nvPicPr>
        <p:blipFill>
          <a:blip r:embed="rId1"/>
          <a:stretch>
            <a:fillRect/>
          </a:stretch>
        </p:blipFill>
        <p:spPr>
          <a:xfrm>
            <a:off x="457200" y="1746504"/>
            <a:ext cx="11277295" cy="4483508"/>
          </a:xfrm>
          <a:prstGeom prst="rect">
            <a:avLst/>
          </a:prstGeom>
        </p:spPr>
      </p:pic>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400" b="1" dirty="0">
                <a:solidFill>
                  <a:schemeClr val="tx1"/>
                </a:solidFill>
              </a:rPr>
              <a:t>Where the extra profit comes from</a:t>
            </a:r>
            <a:endParaRPr lang="en-US" sz="3400" dirty="0"/>
          </a:p>
        </p:txBody>
      </p:sp>
      <p:sp>
        <p:nvSpPr>
          <p:cNvPr id="3" name="Text 0"/>
          <p:cNvSpPr/>
          <p:nvPr>
            <p:ph idx="101" type="body" hasCustomPrompt="1"/>
          </p:nvPr>
        </p:nvSpPr>
        <p:spPr>
          <a:xfrm>
            <a:off x="457200" y="960120"/>
            <a:ext cx="11277295" cy="384048"/>
          </a:xfrm>
          <a:prstGeom prst="rect">
            <a:avLst/>
          </a:prstGeom>
          <a:noFill/>
          <a:ln/>
        </p:spPr>
        <p:txBody>
          <a:bodyPr wrap="square" lIns="0" tIns="0" rIns="0" bIns="0" rtlCol="0" anchor="t"/>
          <a:lstStyle/>
          <a:p>
            <a:pPr algn="l" indent="0" marL="0">
              <a:buNone/>
            </a:pPr>
            <a:r>
              <a:rPr lang="en-US" sz="1600" dirty="0">
                <a:solidFill>
                  <a:schemeClr val="tx2"/>
                </a:solidFill>
              </a:rPr>
              <a:t>A profit bridge from baseline to plan, and every funded promotion plotted by discount and profit</a:t>
            </a:r>
            <a:endParaRPr lang="en-US" sz="1600" dirty="0"/>
          </a:p>
        </p:txBody>
      </p:sp>
      <p:sp>
        <p:nvSpPr>
          <p:cNvPr id="5" name="Frame: dash_bridge_scatter"/>
          <p:cNvSpPr/>
          <p:nvPr/>
        </p:nvSpPr>
        <p:spPr>
          <a:xfrm>
            <a:off x="457200" y="1508760"/>
            <a:ext cx="11277295" cy="3889160"/>
          </a:xfrm>
          <a:prstGeom prst="rect">
            <a:avLst/>
          </a:prstGeom>
          <a:solidFill>
            <a:schemeClr val="bg1"/>
          </a:solidFill>
          <a:ln w="9525">
            <a:solidFill>
              <a:schemeClr val="bg2"/>
            </a:solidFill>
            <a:prstDash val="solid"/>
          </a:ln>
          <a:effectLst>
            <a:outerShdw sx="100000" sy="100000" kx="0" ky="0" algn="bl" rotWithShape="0" blurRad="114300" dist="38100" dir="5400000">
              <a:srgbClr val="0F172A">
                <a:alpha val="16000"/>
              </a:srgbClr>
            </a:outerShdw>
          </a:effectLst>
        </p:spPr>
      </p:sp>
      <p:sp>
        <p:nvSpPr>
          <p:cNvPr id="6" name="Window bar: dash_bridge_scatter"/>
          <p:cNvSpPr/>
          <p:nvPr/>
        </p:nvSpPr>
        <p:spPr>
          <a:xfrm>
            <a:off x="457200" y="1508760"/>
            <a:ext cx="11277295" cy="237744"/>
          </a:xfrm>
          <a:prstGeom prst="rect">
            <a:avLst/>
          </a:prstGeom>
          <a:solidFill>
            <a:schemeClr val="tx1"/>
          </a:solidFill>
          <a:ln w="6350">
            <a:solidFill>
              <a:schemeClr val="tx1"/>
            </a:solidFill>
            <a:prstDash val="solid"/>
          </a:ln>
        </p:spPr>
      </p:sp>
      <p:sp>
        <p:nvSpPr>
          <p:cNvPr id="7" name="Shape 4"/>
          <p:cNvSpPr/>
          <p:nvPr/>
        </p:nvSpPr>
        <p:spPr>
          <a:xfrm>
            <a:off x="566928" y="1591056"/>
            <a:ext cx="82296" cy="82296"/>
          </a:xfrm>
          <a:prstGeom prst="ellipse">
            <a:avLst/>
          </a:prstGeom>
          <a:solidFill>
            <a:schemeClr val="accent4"/>
          </a:solidFill>
          <a:ln w="3175">
            <a:solidFill>
              <a:schemeClr val="accent4"/>
            </a:solidFill>
            <a:prstDash val="solid"/>
          </a:ln>
        </p:spPr>
      </p:sp>
      <p:sp>
        <p:nvSpPr>
          <p:cNvPr id="8" name="Shape 5"/>
          <p:cNvSpPr/>
          <p:nvPr/>
        </p:nvSpPr>
        <p:spPr>
          <a:xfrm>
            <a:off x="713232" y="1591056"/>
            <a:ext cx="82296" cy="82296"/>
          </a:xfrm>
          <a:prstGeom prst="ellipse">
            <a:avLst/>
          </a:prstGeom>
          <a:solidFill>
            <a:schemeClr val="accent3"/>
          </a:solidFill>
          <a:ln w="3175">
            <a:solidFill>
              <a:schemeClr val="accent3"/>
            </a:solidFill>
            <a:prstDash val="solid"/>
          </a:ln>
        </p:spPr>
      </p:sp>
      <p:sp>
        <p:nvSpPr>
          <p:cNvPr id="9" name="Shape 6"/>
          <p:cNvSpPr/>
          <p:nvPr/>
        </p:nvSpPr>
        <p:spPr>
          <a:xfrm>
            <a:off x="859536" y="1591056"/>
            <a:ext cx="82296" cy="82296"/>
          </a:xfrm>
          <a:prstGeom prst="ellipse">
            <a:avLst/>
          </a:prstGeom>
          <a:solidFill>
            <a:schemeClr val="accent2"/>
          </a:solidFill>
          <a:ln w="3175">
            <a:solidFill>
              <a:schemeClr val="accent2"/>
            </a:solidFill>
            <a:prstDash val="solid"/>
          </a:ln>
        </p:spPr>
      </p:sp>
      <p:sp>
        <p:nvSpPr>
          <p:cNvPr id="10" name="URL: dash_bridge_scatter"/>
          <p:cNvSpPr txBox="1"/>
          <p:nvPr/>
        </p:nvSpPr>
        <p:spPr>
          <a:xfrm>
            <a:off x="1097280" y="1508760"/>
            <a:ext cx="10454335" cy="237744"/>
          </a:xfrm>
          <a:prstGeom prst="rect">
            <a:avLst/>
          </a:prstGeom>
          <a:noFill/>
          <a:ln/>
        </p:spPr>
        <p:txBody>
          <a:bodyPr wrap="square" lIns="0" tIns="0" rIns="0" bIns="0" rtlCol="0" anchor="ctr"/>
          <a:lstStyle/>
          <a:p>
            <a:pPr algn="l" indent="0" marL="0">
              <a:buNone/>
            </a:pPr>
            <a:r>
              <a:rPr lang="en-US" sz="1000" dirty="0">
                <a:solidFill>
                  <a:schemeClr val="bg2"/>
                </a:solidFill>
              </a:rPr>
              <a:t>localhost:3000/dashboard</a:t>
            </a:r>
            <a:endParaRPr lang="en-US" sz="1000" dirty="0"/>
          </a:p>
        </p:txBody>
      </p:sp>
      <p:pic>
        <p:nvPicPr>
          <p:cNvPr id="11" name="Screenshot: dash_bridge_scatter" descr="Profit bridge waterfall chart and a scatter of discount versus incremental profit for funded promotions">    </p:cNvPr>
          <p:cNvPicPr>
            <a:picLocks noChangeAspect="1"/>
          </p:cNvPicPr>
          <p:nvPr/>
        </p:nvPicPr>
        <p:blipFill>
          <a:blip r:embed="rId1"/>
          <a:stretch>
            <a:fillRect/>
          </a:stretch>
        </p:blipFill>
        <p:spPr>
          <a:xfrm>
            <a:off x="457200" y="1746504"/>
            <a:ext cx="11277295" cy="3651416"/>
          </a:xfrm>
          <a:prstGeom prst="rect">
            <a:avLst/>
          </a:prstGeom>
        </p:spPr>
      </p:pic>
      <p:sp>
        <p:nvSpPr>
          <p:cNvPr id="12" name="Chip"/>
          <p:cNvSpPr/>
          <p:nvPr/>
        </p:nvSpPr>
        <p:spPr>
          <a:xfrm>
            <a:off x="457200" y="5672240"/>
            <a:ext cx="5455768" cy="777240"/>
          </a:xfrm>
          <a:prstGeom prst="roundRect">
            <a:avLst>
              <a:gd name="adj" fmla="val 9412"/>
            </a:avLst>
          </a:prstGeom>
          <a:solidFill>
            <a:schemeClr val="bg2"/>
          </a:solidFill>
          <a:ln w="3175">
            <a:solidFill>
              <a:schemeClr val="bg2"/>
            </a:solidFill>
            <a:prstDash val="solid"/>
          </a:ln>
        </p:spPr>
      </p:sp>
      <p:sp>
        <p:nvSpPr>
          <p:cNvPr id="13" name="Shape 9"/>
          <p:cNvSpPr/>
          <p:nvPr/>
        </p:nvSpPr>
        <p:spPr>
          <a:xfrm>
            <a:off x="621792" y="5859692"/>
            <a:ext cx="402336" cy="402336"/>
          </a:xfrm>
          <a:prstGeom prst="ellipse">
            <a:avLst/>
          </a:prstGeom>
          <a:solidFill>
            <a:schemeClr val="accent2"/>
          </a:solidFill>
          <a:ln w="3175">
            <a:solidFill>
              <a:schemeClr val="accent2"/>
            </a:solidFill>
            <a:prstDash val="solid"/>
          </a:ln>
        </p:spPr>
      </p:sp>
      <p:pic>
        <p:nvPicPr>
          <p:cNvPr id="14" name="Image 1" descr="preencoded.png">    </p:cNvPr>
          <p:cNvPicPr>
            <a:picLocks noChangeAspect="1"/>
          </p:cNvPicPr>
          <p:nvPr/>
        </p:nvPicPr>
        <p:blipFill>
          <a:blip r:embed="rId2"/>
          <a:stretch>
            <a:fillRect/>
          </a:stretch>
        </p:blipFill>
        <p:spPr>
          <a:xfrm>
            <a:off x="726399" y="5964299"/>
            <a:ext cx="193121" cy="193121"/>
          </a:xfrm>
          <a:prstGeom prst="rect">
            <a:avLst/>
          </a:prstGeom>
        </p:spPr>
      </p:pic>
      <p:sp>
        <p:nvSpPr>
          <p:cNvPr id="15" name="Text 10"/>
          <p:cNvSpPr txBox="1"/>
          <p:nvPr/>
        </p:nvSpPr>
        <p:spPr>
          <a:xfrm>
            <a:off x="1161288" y="5745392"/>
            <a:ext cx="4614520" cy="630936"/>
          </a:xfrm>
          <a:prstGeom prst="rect">
            <a:avLst/>
          </a:prstGeom>
          <a:noFill/>
          <a:ln/>
        </p:spPr>
        <p:txBody>
          <a:bodyPr wrap="square" lIns="0" tIns="0" rIns="0" bIns="0" rtlCol="0" anchor="ctr"/>
          <a:lstStyle/>
          <a:p>
            <a:pPr algn="l" indent="0" marL="0">
              <a:buNone/>
            </a:pPr>
            <a:r>
              <a:rPr lang="en-US" sz="1400" dirty="0">
                <a:solidFill>
                  <a:schemeClr val="tx1"/>
                </a:solidFill>
              </a:rPr>
              <a:t>Discount given away and promo cost are subtracted, not ignored. The bridge ends at ₹1.86Cr.</a:t>
            </a:r>
            <a:endParaRPr lang="en-US" sz="1400" dirty="0"/>
          </a:p>
        </p:txBody>
      </p:sp>
      <p:sp>
        <p:nvSpPr>
          <p:cNvPr id="16" name="Chip"/>
          <p:cNvSpPr/>
          <p:nvPr/>
        </p:nvSpPr>
        <p:spPr>
          <a:xfrm>
            <a:off x="6278728" y="5672240"/>
            <a:ext cx="5455768" cy="777240"/>
          </a:xfrm>
          <a:prstGeom prst="roundRect">
            <a:avLst>
              <a:gd name="adj" fmla="val 9412"/>
            </a:avLst>
          </a:prstGeom>
          <a:solidFill>
            <a:schemeClr val="bg2"/>
          </a:solidFill>
          <a:ln w="3175">
            <a:solidFill>
              <a:schemeClr val="bg2"/>
            </a:solidFill>
            <a:prstDash val="solid"/>
          </a:ln>
        </p:spPr>
      </p:sp>
      <p:sp>
        <p:nvSpPr>
          <p:cNvPr id="17" name="Shape 12"/>
          <p:cNvSpPr/>
          <p:nvPr/>
        </p:nvSpPr>
        <p:spPr>
          <a:xfrm>
            <a:off x="6443320" y="5859692"/>
            <a:ext cx="402336" cy="402336"/>
          </a:xfrm>
          <a:prstGeom prst="ellipse">
            <a:avLst/>
          </a:prstGeom>
          <a:solidFill>
            <a:schemeClr val="accent1"/>
          </a:solidFill>
          <a:ln w="3175">
            <a:solidFill>
              <a:schemeClr val="accent1"/>
            </a:solidFill>
            <a:prstDash val="solid"/>
          </a:ln>
        </p:spPr>
      </p:sp>
      <p:pic>
        <p:nvPicPr>
          <p:cNvPr id="18" name="Image 2" descr="preencoded.png">    </p:cNvPr>
          <p:cNvPicPr>
            <a:picLocks noChangeAspect="1"/>
          </p:cNvPicPr>
          <p:nvPr/>
        </p:nvPicPr>
        <p:blipFill>
          <a:blip r:embed="rId3"/>
          <a:stretch>
            <a:fillRect/>
          </a:stretch>
        </p:blipFill>
        <p:spPr>
          <a:xfrm>
            <a:off x="6547927" y="5964299"/>
            <a:ext cx="193121" cy="193121"/>
          </a:xfrm>
          <a:prstGeom prst="rect">
            <a:avLst/>
          </a:prstGeom>
        </p:spPr>
      </p:pic>
      <p:sp>
        <p:nvSpPr>
          <p:cNvPr id="19" name="Text 13"/>
          <p:cNvSpPr txBox="1"/>
          <p:nvPr/>
        </p:nvSpPr>
        <p:spPr>
          <a:xfrm>
            <a:off x="6982816" y="5745392"/>
            <a:ext cx="4614520" cy="630936"/>
          </a:xfrm>
          <a:prstGeom prst="rect">
            <a:avLst/>
          </a:prstGeom>
          <a:noFill/>
          <a:ln/>
        </p:spPr>
        <p:txBody>
          <a:bodyPr wrap="square" lIns="0" tIns="0" rIns="0" bIns="0" rtlCol="0" anchor="ctr"/>
          <a:lstStyle/>
          <a:p>
            <a:pPr algn="l" indent="0" marL="0">
              <a:buNone/>
            </a:pPr>
            <a:r>
              <a:rPr lang="en-US" sz="1400" dirty="0">
                <a:solidFill>
                  <a:schemeClr val="tx1"/>
                </a:solidFill>
              </a:rPr>
              <a:t>Most funded promotions sit between 5% and 15% off, and most of them are low risk.</a:t>
            </a:r>
            <a:endParaRPr lang="en-US" sz="1400" dirty="0"/>
          </a:p>
        </p:txBody>
      </p:sp>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400" b="1" dirty="0">
                <a:solidFill>
                  <a:schemeClr val="tx1"/>
                </a:solidFill>
              </a:rPr>
              <a:t>Which segments, cities and products win</a:t>
            </a:r>
            <a:endParaRPr lang="en-US" sz="3400" dirty="0"/>
          </a:p>
        </p:txBody>
      </p:sp>
      <p:sp>
        <p:nvSpPr>
          <p:cNvPr id="3" name="Text 0"/>
          <p:cNvSpPr/>
          <p:nvPr>
            <p:ph idx="101" type="body" hasCustomPrompt="1"/>
          </p:nvPr>
        </p:nvSpPr>
        <p:spPr>
          <a:xfrm>
            <a:off x="457200" y="960120"/>
            <a:ext cx="11277295" cy="384048"/>
          </a:xfrm>
          <a:prstGeom prst="rect">
            <a:avLst/>
          </a:prstGeom>
          <a:noFill/>
          <a:ln/>
        </p:spPr>
        <p:txBody>
          <a:bodyPr wrap="square" lIns="0" tIns="0" rIns="0" bIns="0" rtlCol="0" anchor="t"/>
          <a:lstStyle/>
          <a:p>
            <a:pPr algn="l" indent="0" marL="0">
              <a:buNone/>
            </a:pPr>
            <a:r>
              <a:rPr lang="en-US" sz="1600" dirty="0">
                <a:solidFill>
                  <a:schemeClr val="tx2"/>
                </a:solidFill>
              </a:rPr>
              <a:t>The same plan, sliced by segment, city and product, with stock set against demand</a:t>
            </a:r>
            <a:endParaRPr lang="en-US" sz="1600" dirty="0"/>
          </a:p>
        </p:txBody>
      </p:sp>
      <p:sp>
        <p:nvSpPr>
          <p:cNvPr id="5" name="Frame: dash_charts_rest"/>
          <p:cNvSpPr/>
          <p:nvPr/>
        </p:nvSpPr>
        <p:spPr>
          <a:xfrm>
            <a:off x="457200" y="1508760"/>
            <a:ext cx="7772400" cy="4825619"/>
          </a:xfrm>
          <a:prstGeom prst="rect">
            <a:avLst/>
          </a:prstGeom>
          <a:solidFill>
            <a:schemeClr val="bg1"/>
          </a:solidFill>
          <a:ln w="9525">
            <a:solidFill>
              <a:schemeClr val="bg2"/>
            </a:solidFill>
            <a:prstDash val="solid"/>
          </a:ln>
          <a:effectLst>
            <a:outerShdw sx="100000" sy="100000" kx="0" ky="0" algn="bl" rotWithShape="0" blurRad="114300" dist="38100" dir="5400000">
              <a:srgbClr val="0F172A">
                <a:alpha val="16000"/>
              </a:srgbClr>
            </a:outerShdw>
          </a:effectLst>
        </p:spPr>
      </p:sp>
      <p:sp>
        <p:nvSpPr>
          <p:cNvPr id="6" name="Window bar: dash_charts_rest"/>
          <p:cNvSpPr/>
          <p:nvPr/>
        </p:nvSpPr>
        <p:spPr>
          <a:xfrm>
            <a:off x="457200" y="1508760"/>
            <a:ext cx="7772400" cy="237744"/>
          </a:xfrm>
          <a:prstGeom prst="rect">
            <a:avLst/>
          </a:prstGeom>
          <a:solidFill>
            <a:schemeClr val="tx1"/>
          </a:solidFill>
          <a:ln w="6350">
            <a:solidFill>
              <a:schemeClr val="tx1"/>
            </a:solidFill>
            <a:prstDash val="solid"/>
          </a:ln>
        </p:spPr>
      </p:sp>
      <p:sp>
        <p:nvSpPr>
          <p:cNvPr id="7" name="Shape 4"/>
          <p:cNvSpPr/>
          <p:nvPr/>
        </p:nvSpPr>
        <p:spPr>
          <a:xfrm>
            <a:off x="566928" y="1591056"/>
            <a:ext cx="82296" cy="82296"/>
          </a:xfrm>
          <a:prstGeom prst="ellipse">
            <a:avLst/>
          </a:prstGeom>
          <a:solidFill>
            <a:schemeClr val="accent4"/>
          </a:solidFill>
          <a:ln w="3175">
            <a:solidFill>
              <a:schemeClr val="accent4"/>
            </a:solidFill>
            <a:prstDash val="solid"/>
          </a:ln>
        </p:spPr>
      </p:sp>
      <p:sp>
        <p:nvSpPr>
          <p:cNvPr id="8" name="Shape 5"/>
          <p:cNvSpPr/>
          <p:nvPr/>
        </p:nvSpPr>
        <p:spPr>
          <a:xfrm>
            <a:off x="713232" y="1591056"/>
            <a:ext cx="82296" cy="82296"/>
          </a:xfrm>
          <a:prstGeom prst="ellipse">
            <a:avLst/>
          </a:prstGeom>
          <a:solidFill>
            <a:schemeClr val="accent3"/>
          </a:solidFill>
          <a:ln w="3175">
            <a:solidFill>
              <a:schemeClr val="accent3"/>
            </a:solidFill>
            <a:prstDash val="solid"/>
          </a:ln>
        </p:spPr>
      </p:sp>
      <p:sp>
        <p:nvSpPr>
          <p:cNvPr id="9" name="Shape 6"/>
          <p:cNvSpPr/>
          <p:nvPr/>
        </p:nvSpPr>
        <p:spPr>
          <a:xfrm>
            <a:off x="859536" y="1591056"/>
            <a:ext cx="82296" cy="82296"/>
          </a:xfrm>
          <a:prstGeom prst="ellipse">
            <a:avLst/>
          </a:prstGeom>
          <a:solidFill>
            <a:schemeClr val="accent2"/>
          </a:solidFill>
          <a:ln w="3175">
            <a:solidFill>
              <a:schemeClr val="accent2"/>
            </a:solidFill>
            <a:prstDash val="solid"/>
          </a:ln>
        </p:spPr>
      </p:sp>
      <p:sp>
        <p:nvSpPr>
          <p:cNvPr id="10" name="URL: dash_charts_rest"/>
          <p:cNvSpPr txBox="1"/>
          <p:nvPr/>
        </p:nvSpPr>
        <p:spPr>
          <a:xfrm>
            <a:off x="1097280" y="1508760"/>
            <a:ext cx="6949440" cy="237744"/>
          </a:xfrm>
          <a:prstGeom prst="rect">
            <a:avLst/>
          </a:prstGeom>
          <a:noFill/>
          <a:ln/>
        </p:spPr>
        <p:txBody>
          <a:bodyPr wrap="square" lIns="0" tIns="0" rIns="0" bIns="0" rtlCol="0" anchor="ctr"/>
          <a:lstStyle/>
          <a:p>
            <a:pPr algn="l" indent="0" marL="0">
              <a:buNone/>
            </a:pPr>
            <a:r>
              <a:rPr lang="en-US" sz="1000" dirty="0">
                <a:solidFill>
                  <a:schemeClr val="bg2"/>
                </a:solidFill>
              </a:rPr>
              <a:t>localhost:3000/dashboard</a:t>
            </a:r>
            <a:endParaRPr lang="en-US" sz="1000" dirty="0"/>
          </a:p>
        </p:txBody>
      </p:sp>
      <p:pic>
        <p:nvPicPr>
          <p:cNvPr id="11" name="Screenshot: dash_charts_rest" descr="Charts: incremental profit by city, by segment, top five products, stock versus predicted demand and risk of funded promotions">    </p:cNvPr>
          <p:cNvPicPr>
            <a:picLocks noChangeAspect="1"/>
          </p:cNvPicPr>
          <p:nvPr/>
        </p:nvPicPr>
        <p:blipFill>
          <a:blip r:embed="rId1"/>
          <a:stretch>
            <a:fillRect/>
          </a:stretch>
        </p:blipFill>
        <p:spPr>
          <a:xfrm>
            <a:off x="457200" y="1746504"/>
            <a:ext cx="7772400" cy="4587875"/>
          </a:xfrm>
          <a:prstGeom prst="rect">
            <a:avLst/>
          </a:prstGeom>
        </p:spPr>
      </p:pic>
      <p:sp>
        <p:nvSpPr>
          <p:cNvPr id="12" name="Shape 8"/>
          <p:cNvSpPr/>
          <p:nvPr/>
        </p:nvSpPr>
        <p:spPr>
          <a:xfrm>
            <a:off x="8503920" y="1618488"/>
            <a:ext cx="329184" cy="329184"/>
          </a:xfrm>
          <a:prstGeom prst="ellipse">
            <a:avLst/>
          </a:prstGeom>
          <a:solidFill>
            <a:schemeClr val="accent1"/>
          </a:solidFill>
          <a:ln w="3175">
            <a:solidFill>
              <a:schemeClr val="accent1"/>
            </a:solidFill>
            <a:prstDash val="solid"/>
          </a:ln>
        </p:spPr>
      </p:sp>
      <p:sp>
        <p:nvSpPr>
          <p:cNvPr id="13" name="Text 9"/>
          <p:cNvSpPr txBox="1"/>
          <p:nvPr/>
        </p:nvSpPr>
        <p:spPr>
          <a:xfrm>
            <a:off x="8503920" y="161848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4" name="Text 10"/>
          <p:cNvSpPr txBox="1"/>
          <p:nvPr/>
        </p:nvSpPr>
        <p:spPr>
          <a:xfrm>
            <a:off x="8961120" y="1600200"/>
            <a:ext cx="2773375" cy="1463040"/>
          </a:xfrm>
          <a:prstGeom prst="rect">
            <a:avLst/>
          </a:prstGeom>
          <a:noFill/>
          <a:ln/>
        </p:spPr>
        <p:txBody>
          <a:bodyPr wrap="square" lIns="0" tIns="0" rIns="0" bIns="0" rtlCol="0" anchor="t"/>
          <a:lstStyle/>
          <a:p>
            <a:pPr algn="l" indent="0" marL="0">
              <a:spcAft>
                <a:spcPts val="400"/>
              </a:spcAft>
              <a:buNone/>
            </a:pPr>
            <a:r>
              <a:rPr lang="en-US" sz="1800" b="1" dirty="0">
                <a:solidFill>
                  <a:schemeClr val="tx1"/>
                </a:solidFill>
              </a:rPr>
              <a:t>Price-sensitive segments win</a:t>
            </a:r>
            <a:endParaRPr lang="en-US" sz="1800" dirty="0"/>
          </a:p>
          <a:p>
            <a:pPr algn="l" indent="0" marL="0">
              <a:buNone/>
            </a:pPr>
            <a:r>
              <a:rPr lang="en-US" sz="1400" dirty="0">
                <a:solidFill>
                  <a:schemeClr val="tx2"/>
                </a:solidFill>
              </a:rPr>
              <a:t>Students (85/100) and Families (75/100) carry the plan. Professionals (50) and Premium (25) add little.</a:t>
            </a:r>
            <a:endParaRPr lang="en-US" sz="1800" dirty="0"/>
          </a:p>
        </p:txBody>
      </p:sp>
      <p:sp>
        <p:nvSpPr>
          <p:cNvPr id="15" name="Shape 11"/>
          <p:cNvSpPr/>
          <p:nvPr/>
        </p:nvSpPr>
        <p:spPr>
          <a:xfrm>
            <a:off x="8503920" y="3227832"/>
            <a:ext cx="329184" cy="329184"/>
          </a:xfrm>
          <a:prstGeom prst="ellipse">
            <a:avLst/>
          </a:prstGeom>
          <a:solidFill>
            <a:schemeClr val="accent2"/>
          </a:solidFill>
          <a:ln w="3175">
            <a:solidFill>
              <a:schemeClr val="accent2"/>
            </a:solidFill>
            <a:prstDash val="solid"/>
          </a:ln>
        </p:spPr>
      </p:sp>
      <p:sp>
        <p:nvSpPr>
          <p:cNvPr id="16" name="Text 12"/>
          <p:cNvSpPr txBox="1"/>
          <p:nvPr/>
        </p:nvSpPr>
        <p:spPr>
          <a:xfrm>
            <a:off x="8503920" y="322783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7" name="Text 13"/>
          <p:cNvSpPr txBox="1"/>
          <p:nvPr/>
        </p:nvSpPr>
        <p:spPr>
          <a:xfrm>
            <a:off x="8961120" y="3209544"/>
            <a:ext cx="2773375" cy="1463040"/>
          </a:xfrm>
          <a:prstGeom prst="rect">
            <a:avLst/>
          </a:prstGeom>
          <a:noFill/>
          <a:ln/>
        </p:spPr>
        <p:txBody>
          <a:bodyPr wrap="square" lIns="0" tIns="0" rIns="0" bIns="0" rtlCol="0" anchor="t"/>
          <a:lstStyle/>
          <a:p>
            <a:pPr algn="l" indent="0" marL="0">
              <a:spcAft>
                <a:spcPts val="400"/>
              </a:spcAft>
              <a:buNone/>
            </a:pPr>
            <a:r>
              <a:rPr lang="en-US" sz="1800" b="1" dirty="0">
                <a:solidFill>
                  <a:schemeClr val="tx1"/>
                </a:solidFill>
              </a:rPr>
              <a:t>Top products</a:t>
            </a:r>
            <a:endParaRPr lang="en-US" sz="1800" dirty="0"/>
          </a:p>
          <a:p>
            <a:pPr algn="l" indent="0" marL="0">
              <a:buNone/>
            </a:pPr>
            <a:r>
              <a:rPr lang="en-US" sz="1400" dirty="0">
                <a:solidFill>
                  <a:schemeClr val="tx2"/>
                </a:solidFill>
              </a:rPr>
              <a:t>Power Bank, Backpack, Wireless Headphones, Running Shoes and Mechanical Keyboard lead.</a:t>
            </a:r>
            <a:endParaRPr lang="en-US" sz="1800" dirty="0"/>
          </a:p>
        </p:txBody>
      </p:sp>
      <p:sp>
        <p:nvSpPr>
          <p:cNvPr id="18" name="Shape 14"/>
          <p:cNvSpPr/>
          <p:nvPr/>
        </p:nvSpPr>
        <p:spPr>
          <a:xfrm>
            <a:off x="8503920" y="4837176"/>
            <a:ext cx="329184" cy="329184"/>
          </a:xfrm>
          <a:prstGeom prst="ellipse">
            <a:avLst/>
          </a:prstGeom>
          <a:solidFill>
            <a:schemeClr val="accent4"/>
          </a:solidFill>
          <a:ln w="3175">
            <a:solidFill>
              <a:schemeClr val="accent4"/>
            </a:solidFill>
            <a:prstDash val="solid"/>
          </a:ln>
        </p:spPr>
      </p:sp>
      <p:sp>
        <p:nvSpPr>
          <p:cNvPr id="19" name="Text 15"/>
          <p:cNvSpPr txBox="1"/>
          <p:nvPr/>
        </p:nvSpPr>
        <p:spPr>
          <a:xfrm>
            <a:off x="8503920" y="4837176"/>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Text 16"/>
          <p:cNvSpPr txBox="1"/>
          <p:nvPr/>
        </p:nvSpPr>
        <p:spPr>
          <a:xfrm>
            <a:off x="8961120" y="4818888"/>
            <a:ext cx="2773375" cy="1463040"/>
          </a:xfrm>
          <a:prstGeom prst="rect">
            <a:avLst/>
          </a:prstGeom>
          <a:noFill/>
          <a:ln/>
        </p:spPr>
        <p:txBody>
          <a:bodyPr wrap="square" lIns="0" tIns="0" rIns="0" bIns="0" rtlCol="0" anchor="t"/>
          <a:lstStyle/>
          <a:p>
            <a:pPr algn="l" indent="0" marL="0">
              <a:spcAft>
                <a:spcPts val="400"/>
              </a:spcAft>
              <a:buNone/>
            </a:pPr>
            <a:r>
              <a:rPr lang="en-US" sz="1800" b="1" dirty="0">
                <a:solidFill>
                  <a:schemeClr val="tx1"/>
                </a:solidFill>
              </a:rPr>
              <a:t>Stock vs demand</a:t>
            </a:r>
            <a:endParaRPr lang="en-US" sz="1800" dirty="0"/>
          </a:p>
          <a:p>
            <a:pPr algn="l" indent="0" marL="0">
              <a:buNone/>
            </a:pPr>
            <a:r>
              <a:rPr lang="en-US" sz="1400" dirty="0">
                <a:solidFill>
                  <a:schemeClr val="tx2"/>
                </a:solidFill>
              </a:rPr>
              <a:t>Red bars flag products where demand is higher than stock in at least one city.</a:t>
            </a:r>
            <a:endParaRPr lang="en-US" sz="1800" dirty="0"/>
          </a:p>
        </p:txBody>
      </p:sp>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400" b="1" dirty="0">
                <a:solidFill>
                  <a:schemeClr val="tx1"/>
                </a:solidFill>
              </a:rPr>
              <a:t>Every candidate gets a clear status</a:t>
            </a:r>
            <a:endParaRPr lang="en-US" sz="3400" dirty="0"/>
          </a:p>
        </p:txBody>
      </p:sp>
      <p:sp>
        <p:nvSpPr>
          <p:cNvPr id="3" name="Text 0"/>
          <p:cNvSpPr/>
          <p:nvPr>
            <p:ph idx="101" type="body" hasCustomPrompt="1"/>
          </p:nvPr>
        </p:nvSpPr>
        <p:spPr>
          <a:xfrm>
            <a:off x="457200" y="960120"/>
            <a:ext cx="11277295" cy="384048"/>
          </a:xfrm>
          <a:prstGeom prst="rect">
            <a:avLst/>
          </a:prstGeom>
          <a:noFill/>
          <a:ln/>
        </p:spPr>
        <p:txBody>
          <a:bodyPr wrap="square" lIns="0" tIns="0" rIns="0" bIns="0" rtlCol="0" anchor="t"/>
          <a:lstStyle/>
          <a:p>
            <a:pPr algn="l" indent="0" marL="0">
              <a:buNone/>
            </a:pPr>
            <a:r>
              <a:rPr lang="en-US" sz="1600" dirty="0">
                <a:solidFill>
                  <a:schemeClr val="tx2"/>
                </a:solidFill>
              </a:rPr>
              <a:t>The Recommendations page: three tabs, searchable, filterable by city, segment and category</a:t>
            </a:r>
            <a:endParaRPr lang="en-US" sz="1600" dirty="0"/>
          </a:p>
        </p:txBody>
      </p:sp>
      <p:sp>
        <p:nvSpPr>
          <p:cNvPr id="5" name="Frame: recs_inplan"/>
          <p:cNvSpPr/>
          <p:nvPr/>
        </p:nvSpPr>
        <p:spPr>
          <a:xfrm>
            <a:off x="457200" y="1508760"/>
            <a:ext cx="8138160" cy="4773653"/>
          </a:xfrm>
          <a:prstGeom prst="rect">
            <a:avLst/>
          </a:prstGeom>
          <a:solidFill>
            <a:schemeClr val="bg1"/>
          </a:solidFill>
          <a:ln w="9525">
            <a:solidFill>
              <a:schemeClr val="bg2"/>
            </a:solidFill>
            <a:prstDash val="solid"/>
          </a:ln>
          <a:effectLst>
            <a:outerShdw sx="100000" sy="100000" kx="0" ky="0" algn="bl" rotWithShape="0" blurRad="114300" dist="38100" dir="5400000">
              <a:srgbClr val="0F172A">
                <a:alpha val="16000"/>
              </a:srgbClr>
            </a:outerShdw>
          </a:effectLst>
        </p:spPr>
      </p:sp>
      <p:sp>
        <p:nvSpPr>
          <p:cNvPr id="6" name="Window bar: recs_inplan"/>
          <p:cNvSpPr/>
          <p:nvPr/>
        </p:nvSpPr>
        <p:spPr>
          <a:xfrm>
            <a:off x="457200" y="1508760"/>
            <a:ext cx="8138160" cy="237744"/>
          </a:xfrm>
          <a:prstGeom prst="rect">
            <a:avLst/>
          </a:prstGeom>
          <a:solidFill>
            <a:schemeClr val="tx1"/>
          </a:solidFill>
          <a:ln w="6350">
            <a:solidFill>
              <a:schemeClr val="tx1"/>
            </a:solidFill>
            <a:prstDash val="solid"/>
          </a:ln>
        </p:spPr>
      </p:sp>
      <p:sp>
        <p:nvSpPr>
          <p:cNvPr id="7" name="Shape 4"/>
          <p:cNvSpPr/>
          <p:nvPr/>
        </p:nvSpPr>
        <p:spPr>
          <a:xfrm>
            <a:off x="566928" y="1591056"/>
            <a:ext cx="82296" cy="82296"/>
          </a:xfrm>
          <a:prstGeom prst="ellipse">
            <a:avLst/>
          </a:prstGeom>
          <a:solidFill>
            <a:schemeClr val="accent4"/>
          </a:solidFill>
          <a:ln w="3175">
            <a:solidFill>
              <a:schemeClr val="accent4"/>
            </a:solidFill>
            <a:prstDash val="solid"/>
          </a:ln>
        </p:spPr>
      </p:sp>
      <p:sp>
        <p:nvSpPr>
          <p:cNvPr id="8" name="Shape 5"/>
          <p:cNvSpPr/>
          <p:nvPr/>
        </p:nvSpPr>
        <p:spPr>
          <a:xfrm>
            <a:off x="713232" y="1591056"/>
            <a:ext cx="82296" cy="82296"/>
          </a:xfrm>
          <a:prstGeom prst="ellipse">
            <a:avLst/>
          </a:prstGeom>
          <a:solidFill>
            <a:schemeClr val="accent3"/>
          </a:solidFill>
          <a:ln w="3175">
            <a:solidFill>
              <a:schemeClr val="accent3"/>
            </a:solidFill>
            <a:prstDash val="solid"/>
          </a:ln>
        </p:spPr>
      </p:sp>
      <p:sp>
        <p:nvSpPr>
          <p:cNvPr id="9" name="Shape 6"/>
          <p:cNvSpPr/>
          <p:nvPr/>
        </p:nvSpPr>
        <p:spPr>
          <a:xfrm>
            <a:off x="859536" y="1591056"/>
            <a:ext cx="82296" cy="82296"/>
          </a:xfrm>
          <a:prstGeom prst="ellipse">
            <a:avLst/>
          </a:prstGeom>
          <a:solidFill>
            <a:schemeClr val="accent2"/>
          </a:solidFill>
          <a:ln w="3175">
            <a:solidFill>
              <a:schemeClr val="accent2"/>
            </a:solidFill>
            <a:prstDash val="solid"/>
          </a:ln>
        </p:spPr>
      </p:sp>
      <p:sp>
        <p:nvSpPr>
          <p:cNvPr id="10" name="URL: recs_inplan"/>
          <p:cNvSpPr txBox="1"/>
          <p:nvPr/>
        </p:nvSpPr>
        <p:spPr>
          <a:xfrm>
            <a:off x="1097280" y="1508760"/>
            <a:ext cx="7315200" cy="237744"/>
          </a:xfrm>
          <a:prstGeom prst="rect">
            <a:avLst/>
          </a:prstGeom>
          <a:noFill/>
          <a:ln/>
        </p:spPr>
        <p:txBody>
          <a:bodyPr wrap="square" lIns="0" tIns="0" rIns="0" bIns="0" rtlCol="0" anchor="ctr"/>
          <a:lstStyle/>
          <a:p>
            <a:pPr algn="l" indent="0" marL="0">
              <a:buNone/>
            </a:pPr>
            <a:r>
              <a:rPr lang="en-US" sz="1000" dirty="0">
                <a:solidFill>
                  <a:schemeClr val="bg2"/>
                </a:solidFill>
              </a:rPr>
              <a:t>localhost:3000/recommendations</a:t>
            </a:r>
            <a:endParaRPr lang="en-US" sz="1000" dirty="0"/>
          </a:p>
        </p:txBody>
      </p:sp>
      <p:pic>
        <p:nvPicPr>
          <p:cNvPr id="11" name="Screenshot: recs_inplan" descr="Recommendations page, In plan tab, listing promotions with segment, city, discount, audience, predicted demand, incremental profit, ROI and risk">    </p:cNvPr>
          <p:cNvPicPr>
            <a:picLocks noChangeAspect="1"/>
          </p:cNvPicPr>
          <p:nvPr/>
        </p:nvPicPr>
        <p:blipFill>
          <a:blip r:embed="rId1"/>
          <a:stretch>
            <a:fillRect/>
          </a:stretch>
        </p:blipFill>
        <p:spPr>
          <a:xfrm>
            <a:off x="457200" y="1746504"/>
            <a:ext cx="8138160" cy="4535909"/>
          </a:xfrm>
          <a:prstGeom prst="rect">
            <a:avLst/>
          </a:prstGeom>
        </p:spPr>
      </p:pic>
      <p:sp>
        <p:nvSpPr>
          <p:cNvPr id="12" name="Tile: In plan"/>
          <p:cNvSpPr/>
          <p:nvPr/>
        </p:nvSpPr>
        <p:spPr>
          <a:xfrm>
            <a:off x="8869680" y="1508760"/>
            <a:ext cx="2864815" cy="1463040"/>
          </a:xfrm>
          <a:prstGeom prst="roundRect">
            <a:avLst>
              <a:gd name="adj" fmla="val 5000"/>
            </a:avLst>
          </a:prstGeom>
          <a:solidFill>
            <a:schemeClr val="bg2"/>
          </a:solidFill>
          <a:ln w="3175">
            <a:solidFill>
              <a:schemeClr val="bg2"/>
            </a:solidFill>
            <a:prstDash val="solid"/>
          </a:ln>
        </p:spPr>
      </p:sp>
      <p:sp>
        <p:nvSpPr>
          <p:cNvPr id="13" name="Text 9"/>
          <p:cNvSpPr txBox="1"/>
          <p:nvPr/>
        </p:nvSpPr>
        <p:spPr>
          <a:xfrm>
            <a:off x="9052560" y="1508760"/>
            <a:ext cx="960120" cy="1463040"/>
          </a:xfrm>
          <a:prstGeom prst="rect">
            <a:avLst/>
          </a:prstGeom>
          <a:noFill/>
          <a:ln/>
        </p:spPr>
        <p:txBody>
          <a:bodyPr wrap="square" lIns="0" tIns="0" rIns="0" bIns="0" rtlCol="0" anchor="ctr"/>
          <a:lstStyle/>
          <a:p>
            <a:pPr algn="l" indent="0" marL="0">
              <a:buNone/>
            </a:pPr>
            <a:r>
              <a:rPr lang="en-US" sz="3600" b="1" dirty="0">
                <a:solidFill>
                  <a:schemeClr val="accent2"/>
                </a:solidFill>
                <a:latin typeface="Calibri" pitchFamily="34" charset="0"/>
                <a:ea typeface="Calibri" pitchFamily="34" charset="-122"/>
                <a:cs typeface="Calibri" pitchFamily="34" charset="-120"/>
              </a:rPr>
              <a:t>36</a:t>
            </a:r>
            <a:endParaRPr lang="en-US" sz="3600" dirty="0"/>
          </a:p>
        </p:txBody>
      </p:sp>
      <p:sp>
        <p:nvSpPr>
          <p:cNvPr id="14" name="Text 10"/>
          <p:cNvSpPr txBox="1"/>
          <p:nvPr/>
        </p:nvSpPr>
        <p:spPr>
          <a:xfrm>
            <a:off x="10104120" y="1600200"/>
            <a:ext cx="1493215" cy="1280160"/>
          </a:xfrm>
          <a:prstGeom prst="rect">
            <a:avLst/>
          </a:prstGeom>
          <a:noFill/>
          <a:ln/>
        </p:spPr>
        <p:txBody>
          <a:bodyPr wrap="square" lIns="0" tIns="0" rIns="0" bIns="0" rtlCol="0" anchor="ctr"/>
          <a:lstStyle/>
          <a:p>
            <a:pPr algn="l" indent="0" marL="0">
              <a:buNone/>
            </a:pPr>
            <a:r>
              <a:rPr lang="en-US" sz="1600" b="1" dirty="0">
                <a:solidFill>
                  <a:schemeClr val="tx1"/>
                </a:solidFill>
              </a:rPr>
              <a:t>In plan</a:t>
            </a:r>
            <a:endParaRPr lang="en-US" sz="1600" dirty="0"/>
          </a:p>
          <a:p>
            <a:pPr algn="l" indent="0" marL="0">
              <a:buNone/>
            </a:pPr>
            <a:r>
              <a:rPr lang="en-US" sz="1400" dirty="0">
                <a:solidFill>
                  <a:schemeClr val="tx2"/>
                </a:solidFill>
              </a:rPr>
              <a:t>Fits the budget and the stock</a:t>
            </a:r>
            <a:endParaRPr lang="en-US" sz="1600" dirty="0"/>
          </a:p>
        </p:txBody>
      </p:sp>
      <p:sp>
        <p:nvSpPr>
          <p:cNvPr id="15" name="Tile: Not funded"/>
          <p:cNvSpPr/>
          <p:nvPr/>
        </p:nvSpPr>
        <p:spPr>
          <a:xfrm>
            <a:off x="8869680" y="3200400"/>
            <a:ext cx="2864815" cy="1463040"/>
          </a:xfrm>
          <a:prstGeom prst="roundRect">
            <a:avLst>
              <a:gd name="adj" fmla="val 5000"/>
            </a:avLst>
          </a:prstGeom>
          <a:solidFill>
            <a:schemeClr val="bg2"/>
          </a:solidFill>
          <a:ln w="3175">
            <a:solidFill>
              <a:schemeClr val="bg2"/>
            </a:solidFill>
            <a:prstDash val="solid"/>
          </a:ln>
        </p:spPr>
      </p:sp>
      <p:sp>
        <p:nvSpPr>
          <p:cNvPr id="16" name="Text 12"/>
          <p:cNvSpPr txBox="1"/>
          <p:nvPr/>
        </p:nvSpPr>
        <p:spPr>
          <a:xfrm>
            <a:off x="9052560" y="3200400"/>
            <a:ext cx="960120" cy="1463040"/>
          </a:xfrm>
          <a:prstGeom prst="rect">
            <a:avLst/>
          </a:prstGeom>
          <a:noFill/>
          <a:ln/>
        </p:spPr>
        <p:txBody>
          <a:bodyPr wrap="square" lIns="0" tIns="0" rIns="0" bIns="0" rtlCol="0" anchor="ctr"/>
          <a:lstStyle/>
          <a:p>
            <a:pPr algn="l" indent="0" marL="0">
              <a:buNone/>
            </a:pPr>
            <a:r>
              <a:rPr lang="en-US" sz="3600" b="1" dirty="0">
                <a:solidFill>
                  <a:schemeClr val="accent3"/>
                </a:solidFill>
                <a:latin typeface="Calibri" pitchFamily="34" charset="0"/>
                <a:ea typeface="Calibri" pitchFamily="34" charset="-122"/>
                <a:cs typeface="Calibri" pitchFamily="34" charset="-120"/>
              </a:rPr>
              <a:t>55</a:t>
            </a:r>
            <a:endParaRPr lang="en-US" sz="3600" dirty="0"/>
          </a:p>
        </p:txBody>
      </p:sp>
      <p:sp>
        <p:nvSpPr>
          <p:cNvPr id="17" name="Text 13"/>
          <p:cNvSpPr txBox="1"/>
          <p:nvPr/>
        </p:nvSpPr>
        <p:spPr>
          <a:xfrm>
            <a:off x="10104120" y="3291840"/>
            <a:ext cx="1493215" cy="1280160"/>
          </a:xfrm>
          <a:prstGeom prst="rect">
            <a:avLst/>
          </a:prstGeom>
          <a:noFill/>
          <a:ln/>
        </p:spPr>
        <p:txBody>
          <a:bodyPr wrap="square" lIns="0" tIns="0" rIns="0" bIns="0" rtlCol="0" anchor="ctr"/>
          <a:lstStyle/>
          <a:p>
            <a:pPr algn="l" indent="0" marL="0">
              <a:buNone/>
            </a:pPr>
            <a:r>
              <a:rPr lang="en-US" sz="1600" b="1" dirty="0">
                <a:solidFill>
                  <a:schemeClr val="tx1"/>
                </a:solidFill>
              </a:rPr>
              <a:t>Not funded</a:t>
            </a:r>
            <a:endParaRPr lang="en-US" sz="1600" dirty="0"/>
          </a:p>
          <a:p>
            <a:pPr algn="l" indent="0" marL="0">
              <a:buNone/>
            </a:pPr>
            <a:r>
              <a:rPr lang="en-US" sz="1400" dirty="0">
                <a:solidFill>
                  <a:schemeClr val="tx2"/>
                </a:solidFill>
              </a:rPr>
              <a:t>Would pay off, but budget or stock ran out</a:t>
            </a:r>
            <a:endParaRPr lang="en-US" sz="1600" dirty="0"/>
          </a:p>
        </p:txBody>
      </p:sp>
      <p:sp>
        <p:nvSpPr>
          <p:cNvPr id="18" name="Tile: Rejected"/>
          <p:cNvSpPr/>
          <p:nvPr/>
        </p:nvSpPr>
        <p:spPr>
          <a:xfrm>
            <a:off x="8869680" y="4892040"/>
            <a:ext cx="2864815" cy="1463040"/>
          </a:xfrm>
          <a:prstGeom prst="roundRect">
            <a:avLst>
              <a:gd name="adj" fmla="val 5000"/>
            </a:avLst>
          </a:prstGeom>
          <a:solidFill>
            <a:schemeClr val="bg2"/>
          </a:solidFill>
          <a:ln w="3175">
            <a:solidFill>
              <a:schemeClr val="bg2"/>
            </a:solidFill>
            <a:prstDash val="solid"/>
          </a:ln>
        </p:spPr>
      </p:sp>
      <p:sp>
        <p:nvSpPr>
          <p:cNvPr id="19" name="Text 15"/>
          <p:cNvSpPr txBox="1"/>
          <p:nvPr/>
        </p:nvSpPr>
        <p:spPr>
          <a:xfrm>
            <a:off x="9052560" y="4892040"/>
            <a:ext cx="960120" cy="1463040"/>
          </a:xfrm>
          <a:prstGeom prst="rect">
            <a:avLst/>
          </a:prstGeom>
          <a:noFill/>
          <a:ln/>
        </p:spPr>
        <p:txBody>
          <a:bodyPr wrap="square" lIns="0" tIns="0" rIns="0" bIns="0" rtlCol="0" anchor="ctr"/>
          <a:lstStyle/>
          <a:p>
            <a:pPr algn="l" indent="0" marL="0">
              <a:buNone/>
            </a:pPr>
            <a:r>
              <a:rPr lang="en-US" sz="3600" b="1" dirty="0">
                <a:solidFill>
                  <a:schemeClr val="accent4"/>
                </a:solidFill>
                <a:latin typeface="Calibri" pitchFamily="34" charset="0"/>
                <a:ea typeface="Calibri" pitchFamily="34" charset="-122"/>
                <a:cs typeface="Calibri" pitchFamily="34" charset="-120"/>
              </a:rPr>
              <a:t>309</a:t>
            </a:r>
            <a:endParaRPr lang="en-US" sz="3600" dirty="0"/>
          </a:p>
        </p:txBody>
      </p:sp>
      <p:sp>
        <p:nvSpPr>
          <p:cNvPr id="20" name="Text 16"/>
          <p:cNvSpPr txBox="1"/>
          <p:nvPr/>
        </p:nvSpPr>
        <p:spPr>
          <a:xfrm>
            <a:off x="10104120" y="4983480"/>
            <a:ext cx="1493215" cy="1280160"/>
          </a:xfrm>
          <a:prstGeom prst="rect">
            <a:avLst/>
          </a:prstGeom>
          <a:noFill/>
          <a:ln/>
        </p:spPr>
        <p:txBody>
          <a:bodyPr wrap="square" lIns="0" tIns="0" rIns="0" bIns="0" rtlCol="0" anchor="ctr"/>
          <a:lstStyle/>
          <a:p>
            <a:pPr algn="l" indent="0" marL="0">
              <a:buNone/>
            </a:pPr>
            <a:r>
              <a:rPr lang="en-US" sz="1600" b="1" dirty="0">
                <a:solidFill>
                  <a:schemeClr val="tx1"/>
                </a:solidFill>
              </a:rPr>
              <a:t>Rejected</a:t>
            </a:r>
            <a:endParaRPr lang="en-US" sz="1600" dirty="0"/>
          </a:p>
          <a:p>
            <a:pPr algn="l" indent="0" marL="0">
              <a:buNone/>
            </a:pPr>
            <a:r>
              <a:rPr lang="en-US" sz="1400" dirty="0">
                <a:solidFill>
                  <a:schemeClr val="tx2"/>
                </a:solidFill>
              </a:rPr>
              <a:t>Listed with the reason</a:t>
            </a:r>
            <a:endParaRPr lang="en-US" sz="1600" dirty="0"/>
          </a:p>
        </p:txBody>
      </p:sp>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400" b="1" dirty="0">
                <a:solidFill>
                  <a:schemeClr val="tx1"/>
                </a:solidFill>
              </a:rPr>
              <a:t>What the engine refuses, and why</a:t>
            </a:r>
            <a:endParaRPr lang="en-US" sz="3400" dirty="0"/>
          </a:p>
        </p:txBody>
      </p:sp>
      <p:sp>
        <p:nvSpPr>
          <p:cNvPr id="3" name="Text 0"/>
          <p:cNvSpPr/>
          <p:nvPr>
            <p:ph idx="101" type="body" hasCustomPrompt="1"/>
          </p:nvPr>
        </p:nvSpPr>
        <p:spPr>
          <a:xfrm>
            <a:off x="457200" y="960120"/>
            <a:ext cx="11277295" cy="384048"/>
          </a:xfrm>
          <a:prstGeom prst="rect">
            <a:avLst/>
          </a:prstGeom>
          <a:noFill/>
          <a:ln/>
        </p:spPr>
        <p:txBody>
          <a:bodyPr wrap="square" lIns="0" tIns="0" rIns="0" bIns="0" rtlCol="0" anchor="t"/>
          <a:lstStyle/>
          <a:p>
            <a:pPr algn="l" indent="0" marL="0">
              <a:buNone/>
            </a:pPr>
            <a:r>
              <a:rPr lang="en-US" sz="1600" dirty="0">
                <a:solidFill>
                  <a:schemeClr val="tx2"/>
                </a:solidFill>
              </a:rPr>
              <a:t>Each rejected promotion is one a naive sales forecast would have recommended</a:t>
            </a:r>
            <a:endParaRPr lang="en-US" sz="1600" dirty="0"/>
          </a:p>
        </p:txBody>
      </p:sp>
      <p:sp>
        <p:nvSpPr>
          <p:cNvPr id="5" name="Frame: dash_rejected"/>
          <p:cNvSpPr/>
          <p:nvPr/>
        </p:nvSpPr>
        <p:spPr>
          <a:xfrm>
            <a:off x="457200" y="1508760"/>
            <a:ext cx="8412480" cy="3662617"/>
          </a:xfrm>
          <a:prstGeom prst="rect">
            <a:avLst/>
          </a:prstGeom>
          <a:solidFill>
            <a:schemeClr val="bg1"/>
          </a:solidFill>
          <a:ln w="9525">
            <a:solidFill>
              <a:schemeClr val="bg2"/>
            </a:solidFill>
            <a:prstDash val="solid"/>
          </a:ln>
          <a:effectLst>
            <a:outerShdw sx="100000" sy="100000" kx="0" ky="0" algn="bl" rotWithShape="0" blurRad="114300" dist="38100" dir="5400000">
              <a:srgbClr val="0F172A">
                <a:alpha val="16000"/>
              </a:srgbClr>
            </a:outerShdw>
          </a:effectLst>
        </p:spPr>
      </p:sp>
      <p:sp>
        <p:nvSpPr>
          <p:cNvPr id="6" name="Window bar: dash_rejected"/>
          <p:cNvSpPr/>
          <p:nvPr/>
        </p:nvSpPr>
        <p:spPr>
          <a:xfrm>
            <a:off x="457200" y="1508760"/>
            <a:ext cx="8412480" cy="237744"/>
          </a:xfrm>
          <a:prstGeom prst="rect">
            <a:avLst/>
          </a:prstGeom>
          <a:solidFill>
            <a:schemeClr val="tx1"/>
          </a:solidFill>
          <a:ln w="6350">
            <a:solidFill>
              <a:schemeClr val="tx1"/>
            </a:solidFill>
            <a:prstDash val="solid"/>
          </a:ln>
        </p:spPr>
      </p:sp>
      <p:sp>
        <p:nvSpPr>
          <p:cNvPr id="7" name="Shape 4"/>
          <p:cNvSpPr/>
          <p:nvPr/>
        </p:nvSpPr>
        <p:spPr>
          <a:xfrm>
            <a:off x="566928" y="1591056"/>
            <a:ext cx="82296" cy="82296"/>
          </a:xfrm>
          <a:prstGeom prst="ellipse">
            <a:avLst/>
          </a:prstGeom>
          <a:solidFill>
            <a:schemeClr val="accent4"/>
          </a:solidFill>
          <a:ln w="3175">
            <a:solidFill>
              <a:schemeClr val="accent4"/>
            </a:solidFill>
            <a:prstDash val="solid"/>
          </a:ln>
        </p:spPr>
      </p:sp>
      <p:sp>
        <p:nvSpPr>
          <p:cNvPr id="8" name="Shape 5"/>
          <p:cNvSpPr/>
          <p:nvPr/>
        </p:nvSpPr>
        <p:spPr>
          <a:xfrm>
            <a:off x="713232" y="1591056"/>
            <a:ext cx="82296" cy="82296"/>
          </a:xfrm>
          <a:prstGeom prst="ellipse">
            <a:avLst/>
          </a:prstGeom>
          <a:solidFill>
            <a:schemeClr val="accent3"/>
          </a:solidFill>
          <a:ln w="3175">
            <a:solidFill>
              <a:schemeClr val="accent3"/>
            </a:solidFill>
            <a:prstDash val="solid"/>
          </a:ln>
        </p:spPr>
      </p:sp>
      <p:sp>
        <p:nvSpPr>
          <p:cNvPr id="9" name="Shape 6"/>
          <p:cNvSpPr/>
          <p:nvPr/>
        </p:nvSpPr>
        <p:spPr>
          <a:xfrm>
            <a:off x="859536" y="1591056"/>
            <a:ext cx="82296" cy="82296"/>
          </a:xfrm>
          <a:prstGeom prst="ellipse">
            <a:avLst/>
          </a:prstGeom>
          <a:solidFill>
            <a:schemeClr val="accent2"/>
          </a:solidFill>
          <a:ln w="3175">
            <a:solidFill>
              <a:schemeClr val="accent2"/>
            </a:solidFill>
            <a:prstDash val="solid"/>
          </a:ln>
        </p:spPr>
      </p:sp>
      <p:sp>
        <p:nvSpPr>
          <p:cNvPr id="10" name="URL: dash_rejected"/>
          <p:cNvSpPr txBox="1"/>
          <p:nvPr/>
        </p:nvSpPr>
        <p:spPr>
          <a:xfrm>
            <a:off x="1097280" y="1508760"/>
            <a:ext cx="7589520" cy="237744"/>
          </a:xfrm>
          <a:prstGeom prst="rect">
            <a:avLst/>
          </a:prstGeom>
          <a:noFill/>
          <a:ln/>
        </p:spPr>
        <p:txBody>
          <a:bodyPr wrap="square" lIns="0" tIns="0" rIns="0" bIns="0" rtlCol="0" anchor="ctr"/>
          <a:lstStyle/>
          <a:p>
            <a:pPr algn="l" indent="0" marL="0">
              <a:buNone/>
            </a:pPr>
            <a:r>
              <a:rPr lang="en-US" sz="1000" dirty="0">
                <a:solidFill>
                  <a:schemeClr val="bg2"/>
                </a:solidFill>
              </a:rPr>
              <a:t>localhost:3000/dashboard</a:t>
            </a:r>
            <a:endParaRPr lang="en-US" sz="1000" dirty="0"/>
          </a:p>
        </p:txBody>
      </p:sp>
      <p:pic>
        <p:nvPicPr>
          <p:cNvPr id="11" name="Screenshot: dash_rejected" descr="Rejected promotions table with reason chips: customers would have bought anyway 144, promo cost exceeds the extra profit 121, protect stock 24, no profitable discount available 20">    </p:cNvPr>
          <p:cNvPicPr>
            <a:picLocks noChangeAspect="1"/>
          </p:cNvPicPr>
          <p:nvPr/>
        </p:nvPicPr>
        <p:blipFill>
          <a:blip r:embed="rId1"/>
          <a:stretch>
            <a:fillRect/>
          </a:stretch>
        </p:blipFill>
        <p:spPr>
          <a:xfrm>
            <a:off x="457200" y="1746504"/>
            <a:ext cx="8412480" cy="3424872"/>
          </a:xfrm>
          <a:prstGeom prst="rect">
            <a:avLst/>
          </a:prstGeom>
        </p:spPr>
      </p:pic>
      <p:sp>
        <p:nvSpPr>
          <p:cNvPr id="12" name="Chip"/>
          <p:cNvSpPr/>
          <p:nvPr/>
        </p:nvSpPr>
        <p:spPr>
          <a:xfrm>
            <a:off x="457200" y="5445697"/>
            <a:ext cx="8412480" cy="891095"/>
          </a:xfrm>
          <a:prstGeom prst="roundRect">
            <a:avLst>
              <a:gd name="adj" fmla="val 8209"/>
            </a:avLst>
          </a:prstGeom>
          <a:solidFill>
            <a:schemeClr val="bg2"/>
          </a:solidFill>
          <a:ln w="3175">
            <a:solidFill>
              <a:schemeClr val="bg2"/>
            </a:solidFill>
            <a:prstDash val="solid"/>
          </a:ln>
        </p:spPr>
      </p:sp>
      <p:sp>
        <p:nvSpPr>
          <p:cNvPr id="13" name="Shape 9"/>
          <p:cNvSpPr/>
          <p:nvPr/>
        </p:nvSpPr>
        <p:spPr>
          <a:xfrm>
            <a:off x="621792" y="5690076"/>
            <a:ext cx="402336" cy="402336"/>
          </a:xfrm>
          <a:prstGeom prst="ellipse">
            <a:avLst/>
          </a:prstGeom>
          <a:solidFill>
            <a:schemeClr val="accent4"/>
          </a:solidFill>
          <a:ln w="3175">
            <a:solidFill>
              <a:schemeClr val="accent4"/>
            </a:solidFill>
            <a:prstDash val="solid"/>
          </a:ln>
        </p:spPr>
      </p:sp>
      <p:pic>
        <p:nvPicPr>
          <p:cNvPr id="14" name="Image 1" descr="preencoded.png">    </p:cNvPr>
          <p:cNvPicPr>
            <a:picLocks noChangeAspect="1"/>
          </p:cNvPicPr>
          <p:nvPr/>
        </p:nvPicPr>
        <p:blipFill>
          <a:blip r:embed="rId2"/>
          <a:stretch>
            <a:fillRect/>
          </a:stretch>
        </p:blipFill>
        <p:spPr>
          <a:xfrm>
            <a:off x="726399" y="5794684"/>
            <a:ext cx="193121" cy="193121"/>
          </a:xfrm>
          <a:prstGeom prst="rect">
            <a:avLst/>
          </a:prstGeom>
        </p:spPr>
      </p:pic>
      <p:sp>
        <p:nvSpPr>
          <p:cNvPr id="15" name="Text 10"/>
          <p:cNvSpPr txBox="1"/>
          <p:nvPr/>
        </p:nvSpPr>
        <p:spPr>
          <a:xfrm>
            <a:off x="1161288" y="5518849"/>
            <a:ext cx="7571232" cy="744791"/>
          </a:xfrm>
          <a:prstGeom prst="rect">
            <a:avLst/>
          </a:prstGeom>
          <a:noFill/>
          <a:ln/>
        </p:spPr>
        <p:txBody>
          <a:bodyPr wrap="square" lIns="0" tIns="0" rIns="0" bIns="0" rtlCol="0" anchor="ctr"/>
          <a:lstStyle/>
          <a:p>
            <a:pPr algn="l" indent="0" marL="0">
              <a:buNone/>
            </a:pPr>
            <a:r>
              <a:rPr lang="en-US" sz="1400" dirty="0">
                <a:solidFill>
                  <a:schemeClr val="tx1"/>
                </a:solidFill>
              </a:rPr>
              <a:t>Every row says what was tried (the best discount) and what it would have lost.</a:t>
            </a:r>
            <a:endParaRPr lang="en-US" sz="1400" dirty="0"/>
          </a:p>
        </p:txBody>
      </p:sp>
      <p:sp>
        <p:nvSpPr>
          <p:cNvPr id="16" name="Tile: Customers would have bought anyway"/>
          <p:cNvSpPr/>
          <p:nvPr/>
        </p:nvSpPr>
        <p:spPr>
          <a:xfrm>
            <a:off x="9144000" y="1508760"/>
            <a:ext cx="2590495" cy="1069848"/>
          </a:xfrm>
          <a:prstGeom prst="roundRect">
            <a:avLst>
              <a:gd name="adj" fmla="val 6838"/>
            </a:avLst>
          </a:prstGeom>
          <a:solidFill>
            <a:schemeClr val="bg2"/>
          </a:solidFill>
          <a:ln w="3175">
            <a:solidFill>
              <a:schemeClr val="bg2"/>
            </a:solidFill>
            <a:prstDash val="solid"/>
          </a:ln>
        </p:spPr>
      </p:sp>
      <p:sp>
        <p:nvSpPr>
          <p:cNvPr id="17" name="Text 12"/>
          <p:cNvSpPr txBox="1"/>
          <p:nvPr/>
        </p:nvSpPr>
        <p:spPr>
          <a:xfrm>
            <a:off x="9326880" y="1508760"/>
            <a:ext cx="731520" cy="1069848"/>
          </a:xfrm>
          <a:prstGeom prst="rect">
            <a:avLst/>
          </a:prstGeom>
          <a:noFill/>
          <a:ln/>
        </p:spPr>
        <p:txBody>
          <a:bodyPr wrap="square" lIns="0" tIns="0" rIns="0" bIns="0" rtlCol="0" anchor="ctr"/>
          <a:lstStyle/>
          <a:p>
            <a:pPr algn="l" indent="0" marL="0">
              <a:buNone/>
            </a:pPr>
            <a:r>
              <a:rPr lang="en-US" sz="3000" b="1" dirty="0">
                <a:solidFill>
                  <a:schemeClr val="accent4"/>
                </a:solidFill>
                <a:latin typeface="Calibri" pitchFamily="34" charset="0"/>
                <a:ea typeface="Calibri" pitchFamily="34" charset="-122"/>
                <a:cs typeface="Calibri" pitchFamily="34" charset="-120"/>
              </a:rPr>
              <a:t>144</a:t>
            </a:r>
            <a:endParaRPr lang="en-US" sz="3000" dirty="0"/>
          </a:p>
        </p:txBody>
      </p:sp>
      <p:sp>
        <p:nvSpPr>
          <p:cNvPr id="18" name="Text 13"/>
          <p:cNvSpPr txBox="1"/>
          <p:nvPr/>
        </p:nvSpPr>
        <p:spPr>
          <a:xfrm>
            <a:off x="10149840" y="1600200"/>
            <a:ext cx="1447495" cy="886968"/>
          </a:xfrm>
          <a:prstGeom prst="rect">
            <a:avLst/>
          </a:prstGeom>
          <a:noFill/>
          <a:ln/>
        </p:spPr>
        <p:txBody>
          <a:bodyPr wrap="square" lIns="0" tIns="0" rIns="0" bIns="0" rtlCol="0" anchor="ctr"/>
          <a:lstStyle/>
          <a:p>
            <a:pPr algn="l" indent="0" marL="0">
              <a:buNone/>
            </a:pPr>
            <a:r>
              <a:rPr lang="en-US" sz="1600" b="1" dirty="0">
                <a:solidFill>
                  <a:schemeClr val="tx1"/>
                </a:solidFill>
              </a:rPr>
              <a:t>Customers would have bought anyway</a:t>
            </a:r>
            <a:endParaRPr lang="en-US" sz="1600" dirty="0"/>
          </a:p>
        </p:txBody>
      </p:sp>
      <p:sp>
        <p:nvSpPr>
          <p:cNvPr id="19" name="Tile: Promo cost exceeds the extra profit"/>
          <p:cNvSpPr/>
          <p:nvPr/>
        </p:nvSpPr>
        <p:spPr>
          <a:xfrm>
            <a:off x="9144000" y="2761488"/>
            <a:ext cx="2590495" cy="1069848"/>
          </a:xfrm>
          <a:prstGeom prst="roundRect">
            <a:avLst>
              <a:gd name="adj" fmla="val 6838"/>
            </a:avLst>
          </a:prstGeom>
          <a:solidFill>
            <a:schemeClr val="bg2"/>
          </a:solidFill>
          <a:ln w="3175">
            <a:solidFill>
              <a:schemeClr val="bg2"/>
            </a:solidFill>
            <a:prstDash val="solid"/>
          </a:ln>
        </p:spPr>
      </p:sp>
      <p:sp>
        <p:nvSpPr>
          <p:cNvPr id="20" name="Text 15"/>
          <p:cNvSpPr txBox="1"/>
          <p:nvPr/>
        </p:nvSpPr>
        <p:spPr>
          <a:xfrm>
            <a:off x="9326880" y="2761488"/>
            <a:ext cx="731520" cy="1069848"/>
          </a:xfrm>
          <a:prstGeom prst="rect">
            <a:avLst/>
          </a:prstGeom>
          <a:noFill/>
          <a:ln/>
        </p:spPr>
        <p:txBody>
          <a:bodyPr wrap="square" lIns="0" tIns="0" rIns="0" bIns="0" rtlCol="0" anchor="ctr"/>
          <a:lstStyle/>
          <a:p>
            <a:pPr algn="l" indent="0" marL="0">
              <a:buNone/>
            </a:pPr>
            <a:r>
              <a:rPr lang="en-US" sz="3000" b="1" dirty="0">
                <a:solidFill>
                  <a:schemeClr val="accent4"/>
                </a:solidFill>
                <a:latin typeface="Calibri" pitchFamily="34" charset="0"/>
                <a:ea typeface="Calibri" pitchFamily="34" charset="-122"/>
                <a:cs typeface="Calibri" pitchFamily="34" charset="-120"/>
              </a:rPr>
              <a:t>121</a:t>
            </a:r>
            <a:endParaRPr lang="en-US" sz="3000" dirty="0"/>
          </a:p>
        </p:txBody>
      </p:sp>
      <p:sp>
        <p:nvSpPr>
          <p:cNvPr id="21" name="Text 16"/>
          <p:cNvSpPr txBox="1"/>
          <p:nvPr/>
        </p:nvSpPr>
        <p:spPr>
          <a:xfrm>
            <a:off x="10149840" y="2852928"/>
            <a:ext cx="1447495" cy="886968"/>
          </a:xfrm>
          <a:prstGeom prst="rect">
            <a:avLst/>
          </a:prstGeom>
          <a:noFill/>
          <a:ln/>
        </p:spPr>
        <p:txBody>
          <a:bodyPr wrap="square" lIns="0" tIns="0" rIns="0" bIns="0" rtlCol="0" anchor="ctr"/>
          <a:lstStyle/>
          <a:p>
            <a:pPr algn="l" indent="0" marL="0">
              <a:buNone/>
            </a:pPr>
            <a:r>
              <a:rPr lang="en-US" sz="1600" b="1" dirty="0">
                <a:solidFill>
                  <a:schemeClr val="tx1"/>
                </a:solidFill>
              </a:rPr>
              <a:t>Promo cost exceeds the extra profit</a:t>
            </a:r>
            <a:endParaRPr lang="en-US" sz="1600" dirty="0"/>
          </a:p>
        </p:txBody>
      </p:sp>
      <p:sp>
        <p:nvSpPr>
          <p:cNvPr id="22" name="Tile: Protect stock"/>
          <p:cNvSpPr/>
          <p:nvPr/>
        </p:nvSpPr>
        <p:spPr>
          <a:xfrm>
            <a:off x="9144000" y="4014216"/>
            <a:ext cx="2590495" cy="1069848"/>
          </a:xfrm>
          <a:prstGeom prst="roundRect">
            <a:avLst>
              <a:gd name="adj" fmla="val 6838"/>
            </a:avLst>
          </a:prstGeom>
          <a:solidFill>
            <a:schemeClr val="bg2"/>
          </a:solidFill>
          <a:ln w="3175">
            <a:solidFill>
              <a:schemeClr val="bg2"/>
            </a:solidFill>
            <a:prstDash val="solid"/>
          </a:ln>
        </p:spPr>
      </p:sp>
      <p:sp>
        <p:nvSpPr>
          <p:cNvPr id="23" name="Text 18"/>
          <p:cNvSpPr txBox="1"/>
          <p:nvPr/>
        </p:nvSpPr>
        <p:spPr>
          <a:xfrm>
            <a:off x="9326880" y="4014216"/>
            <a:ext cx="731520" cy="1069848"/>
          </a:xfrm>
          <a:prstGeom prst="rect">
            <a:avLst/>
          </a:prstGeom>
          <a:noFill/>
          <a:ln/>
        </p:spPr>
        <p:txBody>
          <a:bodyPr wrap="square" lIns="0" tIns="0" rIns="0" bIns="0" rtlCol="0" anchor="ctr"/>
          <a:lstStyle/>
          <a:p>
            <a:pPr algn="l" indent="0" marL="0">
              <a:buNone/>
            </a:pPr>
            <a:r>
              <a:rPr lang="en-US" sz="3000" b="1" dirty="0">
                <a:solidFill>
                  <a:schemeClr val="accent4"/>
                </a:solidFill>
                <a:latin typeface="Calibri" pitchFamily="34" charset="0"/>
                <a:ea typeface="Calibri" pitchFamily="34" charset="-122"/>
                <a:cs typeface="Calibri" pitchFamily="34" charset="-120"/>
              </a:rPr>
              <a:t>24</a:t>
            </a:r>
            <a:endParaRPr lang="en-US" sz="3000" dirty="0"/>
          </a:p>
        </p:txBody>
      </p:sp>
      <p:sp>
        <p:nvSpPr>
          <p:cNvPr id="24" name="Text 19"/>
          <p:cNvSpPr txBox="1"/>
          <p:nvPr/>
        </p:nvSpPr>
        <p:spPr>
          <a:xfrm>
            <a:off x="10149840" y="4105656"/>
            <a:ext cx="1447495" cy="886968"/>
          </a:xfrm>
          <a:prstGeom prst="rect">
            <a:avLst/>
          </a:prstGeom>
          <a:noFill/>
          <a:ln/>
        </p:spPr>
        <p:txBody>
          <a:bodyPr wrap="square" lIns="0" tIns="0" rIns="0" bIns="0" rtlCol="0" anchor="ctr"/>
          <a:lstStyle/>
          <a:p>
            <a:pPr algn="l" indent="0" marL="0">
              <a:buNone/>
            </a:pPr>
            <a:r>
              <a:rPr lang="en-US" sz="1600" b="1" dirty="0">
                <a:solidFill>
                  <a:schemeClr val="tx1"/>
                </a:solidFill>
              </a:rPr>
              <a:t>Protect stock</a:t>
            </a:r>
            <a:endParaRPr lang="en-US" sz="1600" dirty="0"/>
          </a:p>
        </p:txBody>
      </p:sp>
      <p:sp>
        <p:nvSpPr>
          <p:cNvPr id="25" name="Tile: No profitable discount available"/>
          <p:cNvSpPr/>
          <p:nvPr/>
        </p:nvSpPr>
        <p:spPr>
          <a:xfrm>
            <a:off x="9144000" y="5266944"/>
            <a:ext cx="2590495" cy="1069848"/>
          </a:xfrm>
          <a:prstGeom prst="roundRect">
            <a:avLst>
              <a:gd name="adj" fmla="val 6838"/>
            </a:avLst>
          </a:prstGeom>
          <a:solidFill>
            <a:schemeClr val="bg2"/>
          </a:solidFill>
          <a:ln w="3175">
            <a:solidFill>
              <a:schemeClr val="bg2"/>
            </a:solidFill>
            <a:prstDash val="solid"/>
          </a:ln>
        </p:spPr>
      </p:sp>
      <p:sp>
        <p:nvSpPr>
          <p:cNvPr id="26" name="Text 21"/>
          <p:cNvSpPr txBox="1"/>
          <p:nvPr/>
        </p:nvSpPr>
        <p:spPr>
          <a:xfrm>
            <a:off x="9326880" y="5266944"/>
            <a:ext cx="731520" cy="1069848"/>
          </a:xfrm>
          <a:prstGeom prst="rect">
            <a:avLst/>
          </a:prstGeom>
          <a:noFill/>
          <a:ln/>
        </p:spPr>
        <p:txBody>
          <a:bodyPr wrap="square" lIns="0" tIns="0" rIns="0" bIns="0" rtlCol="0" anchor="ctr"/>
          <a:lstStyle/>
          <a:p>
            <a:pPr algn="l" indent="0" marL="0">
              <a:buNone/>
            </a:pPr>
            <a:r>
              <a:rPr lang="en-US" sz="3000" b="1" dirty="0">
                <a:solidFill>
                  <a:schemeClr val="accent4"/>
                </a:solidFill>
                <a:latin typeface="Calibri" pitchFamily="34" charset="0"/>
                <a:ea typeface="Calibri" pitchFamily="34" charset="-122"/>
                <a:cs typeface="Calibri" pitchFamily="34" charset="-120"/>
              </a:rPr>
              <a:t>20</a:t>
            </a:r>
            <a:endParaRPr lang="en-US" sz="3000" dirty="0"/>
          </a:p>
        </p:txBody>
      </p:sp>
      <p:sp>
        <p:nvSpPr>
          <p:cNvPr id="27" name="Text 22"/>
          <p:cNvSpPr txBox="1"/>
          <p:nvPr/>
        </p:nvSpPr>
        <p:spPr>
          <a:xfrm>
            <a:off x="10149840" y="5358384"/>
            <a:ext cx="1447495" cy="886968"/>
          </a:xfrm>
          <a:prstGeom prst="rect">
            <a:avLst/>
          </a:prstGeom>
          <a:noFill/>
          <a:ln/>
        </p:spPr>
        <p:txBody>
          <a:bodyPr wrap="square" lIns="0" tIns="0" rIns="0" bIns="0" rtlCol="0" anchor="ctr"/>
          <a:lstStyle/>
          <a:p>
            <a:pPr algn="l" indent="0" marL="0">
              <a:buNone/>
            </a:pPr>
            <a:r>
              <a:rPr lang="en-US" sz="1600" b="1" dirty="0">
                <a:solidFill>
                  <a:schemeClr val="tx1"/>
                </a:solidFill>
              </a:rPr>
              <a:t>No profitable discount available</a:t>
            </a:r>
            <a:endParaRPr lang="en-US" sz="1600" dirty="0"/>
          </a:p>
        </p:txBody>
      </p:sp>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400" b="1" dirty="0">
                <a:solidFill>
                  <a:schemeClr val="tx1"/>
                </a:solidFill>
              </a:rPr>
              <a:t>Case A: low stock caps the audience</a:t>
            </a:r>
            <a:endParaRPr lang="en-US" sz="3400" dirty="0"/>
          </a:p>
        </p:txBody>
      </p:sp>
      <p:sp>
        <p:nvSpPr>
          <p:cNvPr id="3" name="Text 0"/>
          <p:cNvSpPr/>
          <p:nvPr>
            <p:ph idx="101" type="body" hasCustomPrompt="1"/>
          </p:nvPr>
        </p:nvSpPr>
        <p:spPr>
          <a:xfrm>
            <a:off x="457200" y="960120"/>
            <a:ext cx="11277295" cy="384048"/>
          </a:xfrm>
          <a:prstGeom prst="rect">
            <a:avLst/>
          </a:prstGeom>
          <a:noFill/>
          <a:ln/>
        </p:spPr>
        <p:txBody>
          <a:bodyPr wrap="square" lIns="0" tIns="0" rIns="0" bIns="0" rtlCol="0" anchor="t"/>
          <a:lstStyle/>
          <a:p>
            <a:pPr algn="l" indent="0" marL="0">
              <a:buNone/>
            </a:pPr>
            <a:r>
              <a:rPr lang="en-US" sz="1600" dirty="0">
                <a:solidFill>
                  <a:schemeClr val="tx2"/>
                </a:solidFill>
              </a:rPr>
              <a:t>Wireless Headphones → Students in Hyderabad: 7.5% off to 496 of 1,860 customers adds ₹1,638</a:t>
            </a:r>
            <a:endParaRPr lang="en-US" sz="1600" dirty="0"/>
          </a:p>
        </p:txBody>
      </p:sp>
      <p:sp>
        <p:nvSpPr>
          <p:cNvPr id="5" name="Frame: caseA_top"/>
          <p:cNvSpPr/>
          <p:nvPr/>
        </p:nvSpPr>
        <p:spPr>
          <a:xfrm>
            <a:off x="457200" y="1508760"/>
            <a:ext cx="11277295" cy="3879371"/>
          </a:xfrm>
          <a:prstGeom prst="rect">
            <a:avLst/>
          </a:prstGeom>
          <a:solidFill>
            <a:schemeClr val="bg1"/>
          </a:solidFill>
          <a:ln w="9525">
            <a:solidFill>
              <a:schemeClr val="bg2"/>
            </a:solidFill>
            <a:prstDash val="solid"/>
          </a:ln>
          <a:effectLst>
            <a:outerShdw sx="100000" sy="100000" kx="0" ky="0" algn="bl" rotWithShape="0" blurRad="114300" dist="38100" dir="5400000">
              <a:srgbClr val="0F172A">
                <a:alpha val="16000"/>
              </a:srgbClr>
            </a:outerShdw>
          </a:effectLst>
        </p:spPr>
      </p:sp>
      <p:sp>
        <p:nvSpPr>
          <p:cNvPr id="6" name="Window bar: caseA_top"/>
          <p:cNvSpPr/>
          <p:nvPr/>
        </p:nvSpPr>
        <p:spPr>
          <a:xfrm>
            <a:off x="457200" y="1508760"/>
            <a:ext cx="11277295" cy="237744"/>
          </a:xfrm>
          <a:prstGeom prst="rect">
            <a:avLst/>
          </a:prstGeom>
          <a:solidFill>
            <a:schemeClr val="tx1"/>
          </a:solidFill>
          <a:ln w="6350">
            <a:solidFill>
              <a:schemeClr val="tx1"/>
            </a:solidFill>
            <a:prstDash val="solid"/>
          </a:ln>
        </p:spPr>
      </p:sp>
      <p:sp>
        <p:nvSpPr>
          <p:cNvPr id="7" name="Shape 4"/>
          <p:cNvSpPr/>
          <p:nvPr/>
        </p:nvSpPr>
        <p:spPr>
          <a:xfrm>
            <a:off x="566928" y="1591056"/>
            <a:ext cx="82296" cy="82296"/>
          </a:xfrm>
          <a:prstGeom prst="ellipse">
            <a:avLst/>
          </a:prstGeom>
          <a:solidFill>
            <a:schemeClr val="accent4"/>
          </a:solidFill>
          <a:ln w="3175">
            <a:solidFill>
              <a:schemeClr val="accent4"/>
            </a:solidFill>
            <a:prstDash val="solid"/>
          </a:ln>
        </p:spPr>
      </p:sp>
      <p:sp>
        <p:nvSpPr>
          <p:cNvPr id="8" name="Shape 5"/>
          <p:cNvSpPr/>
          <p:nvPr/>
        </p:nvSpPr>
        <p:spPr>
          <a:xfrm>
            <a:off x="713232" y="1591056"/>
            <a:ext cx="82296" cy="82296"/>
          </a:xfrm>
          <a:prstGeom prst="ellipse">
            <a:avLst/>
          </a:prstGeom>
          <a:solidFill>
            <a:schemeClr val="accent3"/>
          </a:solidFill>
          <a:ln w="3175">
            <a:solidFill>
              <a:schemeClr val="accent3"/>
            </a:solidFill>
            <a:prstDash val="solid"/>
          </a:ln>
        </p:spPr>
      </p:sp>
      <p:sp>
        <p:nvSpPr>
          <p:cNvPr id="9" name="Shape 6"/>
          <p:cNvSpPr/>
          <p:nvPr/>
        </p:nvSpPr>
        <p:spPr>
          <a:xfrm>
            <a:off x="859536" y="1591056"/>
            <a:ext cx="82296" cy="82296"/>
          </a:xfrm>
          <a:prstGeom prst="ellipse">
            <a:avLst/>
          </a:prstGeom>
          <a:solidFill>
            <a:schemeClr val="accent2"/>
          </a:solidFill>
          <a:ln w="3175">
            <a:solidFill>
              <a:schemeClr val="accent2"/>
            </a:solidFill>
            <a:prstDash val="solid"/>
          </a:ln>
        </p:spPr>
      </p:sp>
      <p:sp>
        <p:nvSpPr>
          <p:cNvPr id="10" name="URL: caseA_top"/>
          <p:cNvSpPr txBox="1"/>
          <p:nvPr/>
        </p:nvSpPr>
        <p:spPr>
          <a:xfrm>
            <a:off x="1097280" y="1508760"/>
            <a:ext cx="10454335" cy="237744"/>
          </a:xfrm>
          <a:prstGeom prst="rect">
            <a:avLst/>
          </a:prstGeom>
          <a:noFill/>
          <a:ln/>
        </p:spPr>
        <p:txBody>
          <a:bodyPr wrap="square" lIns="0" tIns="0" rIns="0" bIns="0" rtlCol="0" anchor="ctr"/>
          <a:lstStyle/>
          <a:p>
            <a:pPr algn="l" indent="0" marL="0">
              <a:buNone/>
            </a:pPr>
            <a:r>
              <a:rPr lang="en-US" sz="1000" dirty="0">
                <a:solidFill>
                  <a:schemeClr val="bg2"/>
                </a:solidFill>
              </a:rPr>
              <a:t>localhost:3000/recommendations/p01_students_hyderabad</a:t>
            </a:r>
            <a:endParaRPr lang="en-US" sz="1000" dirty="0"/>
          </a:p>
        </p:txBody>
      </p:sp>
      <p:pic>
        <p:nvPicPr>
          <p:cNvPr id="11" name="Screenshot: caseA_top" descr="Recommendation detail for Wireless Headphones to Students in Hyderabad: promote, in plan, with discount, audience, demand, incremental profit and risk">    </p:cNvPr>
          <p:cNvPicPr>
            <a:picLocks noChangeAspect="1"/>
          </p:cNvPicPr>
          <p:nvPr/>
        </p:nvPicPr>
        <p:blipFill>
          <a:blip r:embed="rId1"/>
          <a:stretch>
            <a:fillRect/>
          </a:stretch>
        </p:blipFill>
        <p:spPr>
          <a:xfrm>
            <a:off x="457200" y="1746504"/>
            <a:ext cx="11277295" cy="3641627"/>
          </a:xfrm>
          <a:prstGeom prst="rect">
            <a:avLst/>
          </a:prstGeom>
        </p:spPr>
      </p:pic>
      <p:sp>
        <p:nvSpPr>
          <p:cNvPr id="12" name="Chip"/>
          <p:cNvSpPr/>
          <p:nvPr/>
        </p:nvSpPr>
        <p:spPr>
          <a:xfrm>
            <a:off x="457200" y="5616731"/>
            <a:ext cx="3606698" cy="777240"/>
          </a:xfrm>
          <a:prstGeom prst="roundRect">
            <a:avLst>
              <a:gd name="adj" fmla="val 9412"/>
            </a:avLst>
          </a:prstGeom>
          <a:solidFill>
            <a:schemeClr val="bg2"/>
          </a:solidFill>
          <a:ln w="3175">
            <a:solidFill>
              <a:schemeClr val="bg2"/>
            </a:solidFill>
            <a:prstDash val="solid"/>
          </a:ln>
        </p:spPr>
      </p:sp>
      <p:sp>
        <p:nvSpPr>
          <p:cNvPr id="13" name="Shape 9"/>
          <p:cNvSpPr/>
          <p:nvPr/>
        </p:nvSpPr>
        <p:spPr>
          <a:xfrm>
            <a:off x="621792" y="5804183"/>
            <a:ext cx="402336" cy="402336"/>
          </a:xfrm>
          <a:prstGeom prst="ellipse">
            <a:avLst/>
          </a:prstGeom>
          <a:solidFill>
            <a:schemeClr val="accent3"/>
          </a:solidFill>
          <a:ln w="3175">
            <a:solidFill>
              <a:schemeClr val="accent3"/>
            </a:solidFill>
            <a:prstDash val="solid"/>
          </a:ln>
        </p:spPr>
      </p:sp>
      <p:pic>
        <p:nvPicPr>
          <p:cNvPr id="14" name="Image 1" descr="preencoded.png">    </p:cNvPr>
          <p:cNvPicPr>
            <a:picLocks noChangeAspect="1"/>
          </p:cNvPicPr>
          <p:nvPr/>
        </p:nvPicPr>
        <p:blipFill>
          <a:blip r:embed="rId2"/>
          <a:stretch>
            <a:fillRect/>
          </a:stretch>
        </p:blipFill>
        <p:spPr>
          <a:xfrm>
            <a:off x="726399" y="5908790"/>
            <a:ext cx="193121" cy="193121"/>
          </a:xfrm>
          <a:prstGeom prst="rect">
            <a:avLst/>
          </a:prstGeom>
        </p:spPr>
      </p:pic>
      <p:sp>
        <p:nvSpPr>
          <p:cNvPr id="15" name="Text 10"/>
          <p:cNvSpPr txBox="1"/>
          <p:nvPr/>
        </p:nvSpPr>
        <p:spPr>
          <a:xfrm>
            <a:off x="1161288" y="5689883"/>
            <a:ext cx="2765450" cy="630936"/>
          </a:xfrm>
          <a:prstGeom prst="rect">
            <a:avLst/>
          </a:prstGeom>
          <a:noFill/>
          <a:ln/>
        </p:spPr>
        <p:txBody>
          <a:bodyPr wrap="square" lIns="0" tIns="0" rIns="0" bIns="0" rtlCol="0" anchor="ctr"/>
          <a:lstStyle/>
          <a:p>
            <a:pPr algn="l" indent="0" marL="0">
              <a:buNone/>
            </a:pPr>
            <a:r>
              <a:rPr lang="en-US" sz="1400" dirty="0">
                <a:solidFill>
                  <a:schemeClr val="tx1"/>
                </a:solidFill>
              </a:rPr>
              <a:t>Audience limited to 27% so buyers stay within 80% of safe units</a:t>
            </a:r>
            <a:endParaRPr lang="en-US" sz="1400" dirty="0"/>
          </a:p>
        </p:txBody>
      </p:sp>
      <p:sp>
        <p:nvSpPr>
          <p:cNvPr id="16" name="Chip"/>
          <p:cNvSpPr/>
          <p:nvPr/>
        </p:nvSpPr>
        <p:spPr>
          <a:xfrm>
            <a:off x="4292498" y="5616731"/>
            <a:ext cx="3606698" cy="777240"/>
          </a:xfrm>
          <a:prstGeom prst="roundRect">
            <a:avLst>
              <a:gd name="adj" fmla="val 9412"/>
            </a:avLst>
          </a:prstGeom>
          <a:solidFill>
            <a:schemeClr val="bg2"/>
          </a:solidFill>
          <a:ln w="3175">
            <a:solidFill>
              <a:schemeClr val="bg2"/>
            </a:solidFill>
            <a:prstDash val="solid"/>
          </a:ln>
        </p:spPr>
      </p:sp>
      <p:sp>
        <p:nvSpPr>
          <p:cNvPr id="17" name="Shape 12"/>
          <p:cNvSpPr/>
          <p:nvPr/>
        </p:nvSpPr>
        <p:spPr>
          <a:xfrm>
            <a:off x="4457090" y="5804183"/>
            <a:ext cx="402336" cy="402336"/>
          </a:xfrm>
          <a:prstGeom prst="ellipse">
            <a:avLst/>
          </a:prstGeom>
          <a:solidFill>
            <a:schemeClr val="accent3"/>
          </a:solidFill>
          <a:ln w="3175">
            <a:solidFill>
              <a:schemeClr val="accent3"/>
            </a:solidFill>
            <a:prstDash val="solid"/>
          </a:ln>
        </p:spPr>
      </p:sp>
      <p:pic>
        <p:nvPicPr>
          <p:cNvPr id="18" name="Image 2" descr="preencoded.png">    </p:cNvPr>
          <p:cNvPicPr>
            <a:picLocks noChangeAspect="1"/>
          </p:cNvPicPr>
          <p:nvPr/>
        </p:nvPicPr>
        <p:blipFill>
          <a:blip r:embed="rId3"/>
          <a:stretch>
            <a:fillRect/>
          </a:stretch>
        </p:blipFill>
        <p:spPr>
          <a:xfrm>
            <a:off x="4561698" y="5908790"/>
            <a:ext cx="193121" cy="193121"/>
          </a:xfrm>
          <a:prstGeom prst="rect">
            <a:avLst/>
          </a:prstGeom>
        </p:spPr>
      </p:pic>
      <p:sp>
        <p:nvSpPr>
          <p:cNvPr id="19" name="Text 13"/>
          <p:cNvSpPr txBox="1"/>
          <p:nvPr/>
        </p:nvSpPr>
        <p:spPr>
          <a:xfrm>
            <a:off x="4996586" y="5689883"/>
            <a:ext cx="2765450" cy="630936"/>
          </a:xfrm>
          <a:prstGeom prst="rect">
            <a:avLst/>
          </a:prstGeom>
          <a:noFill/>
          <a:ln/>
        </p:spPr>
        <p:txBody>
          <a:bodyPr wrap="square" lIns="0" tIns="0" rIns="0" bIns="0" rtlCol="0" anchor="ctr"/>
          <a:lstStyle/>
          <a:p>
            <a:pPr algn="l" indent="0" marL="0">
              <a:buNone/>
            </a:pPr>
            <a:r>
              <a:rPr lang="en-US" sz="1400" dirty="0">
                <a:solidFill>
                  <a:schemeClr val="tx1"/>
                </a:solidFill>
              </a:rPr>
              <a:t>Fatigue: 5 other campaigns already planned for Students here</a:t>
            </a:r>
            <a:endParaRPr lang="en-US" sz="1400" dirty="0"/>
          </a:p>
        </p:txBody>
      </p:sp>
      <p:sp>
        <p:nvSpPr>
          <p:cNvPr id="20" name="Chip"/>
          <p:cNvSpPr/>
          <p:nvPr/>
        </p:nvSpPr>
        <p:spPr>
          <a:xfrm>
            <a:off x="8127797" y="5616731"/>
            <a:ext cx="3606698" cy="777240"/>
          </a:xfrm>
          <a:prstGeom prst="roundRect">
            <a:avLst>
              <a:gd name="adj" fmla="val 9412"/>
            </a:avLst>
          </a:prstGeom>
          <a:solidFill>
            <a:schemeClr val="bg2"/>
          </a:solidFill>
          <a:ln w="3175">
            <a:solidFill>
              <a:schemeClr val="bg2"/>
            </a:solidFill>
            <a:prstDash val="solid"/>
          </a:ln>
        </p:spPr>
      </p:sp>
      <p:sp>
        <p:nvSpPr>
          <p:cNvPr id="21" name="Shape 15"/>
          <p:cNvSpPr/>
          <p:nvPr/>
        </p:nvSpPr>
        <p:spPr>
          <a:xfrm>
            <a:off x="8292389" y="5804183"/>
            <a:ext cx="402336" cy="402336"/>
          </a:xfrm>
          <a:prstGeom prst="ellipse">
            <a:avLst/>
          </a:prstGeom>
          <a:solidFill>
            <a:schemeClr val="accent3"/>
          </a:solidFill>
          <a:ln w="3175">
            <a:solidFill>
              <a:schemeClr val="accent3"/>
            </a:solidFill>
            <a:prstDash val="solid"/>
          </a:ln>
        </p:spPr>
      </p:sp>
      <p:pic>
        <p:nvPicPr>
          <p:cNvPr id="22" name="Image 3" descr="preencoded.png">    </p:cNvPr>
          <p:cNvPicPr>
            <a:picLocks noChangeAspect="1"/>
          </p:cNvPicPr>
          <p:nvPr/>
        </p:nvPicPr>
        <p:blipFill>
          <a:blip r:embed="rId4"/>
          <a:stretch>
            <a:fillRect/>
          </a:stretch>
        </p:blipFill>
        <p:spPr>
          <a:xfrm>
            <a:off x="8396996" y="5908790"/>
            <a:ext cx="193121" cy="193121"/>
          </a:xfrm>
          <a:prstGeom prst="rect">
            <a:avLst/>
          </a:prstGeom>
        </p:spPr>
      </p:pic>
      <p:sp>
        <p:nvSpPr>
          <p:cNvPr id="23" name="Text 16"/>
          <p:cNvSpPr txBox="1"/>
          <p:nvPr/>
        </p:nvSpPr>
        <p:spPr>
          <a:xfrm>
            <a:off x="8831885" y="5689883"/>
            <a:ext cx="2765450" cy="630936"/>
          </a:xfrm>
          <a:prstGeom prst="rect">
            <a:avLst/>
          </a:prstGeom>
          <a:noFill/>
          <a:ln/>
        </p:spPr>
        <p:txBody>
          <a:bodyPr wrap="square" lIns="0" tIns="0" rIns="0" bIns="0" rtlCol="0" anchor="ctr"/>
          <a:lstStyle/>
          <a:p>
            <a:pPr algn="l" indent="0" marL="0">
              <a:buNone/>
            </a:pPr>
            <a:r>
              <a:rPr lang="en-US" sz="1400" dirty="0">
                <a:solidFill>
                  <a:schemeClr val="tx1"/>
                </a:solidFill>
              </a:rPr>
              <a:t>16% stockout chance, so the pick is flagged Medium risk</a:t>
            </a:r>
            <a:endParaRPr lang="en-US" sz="1400" dirty="0"/>
          </a:p>
        </p:txBody>
      </p:sp>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400" b="1" dirty="0">
                <a:solidFill>
                  <a:schemeClr val="tx1"/>
                </a:solidFill>
              </a:rPr>
              <a:t>Inside a decision: profit vs discount</a:t>
            </a:r>
            <a:endParaRPr lang="en-US" sz="3400" dirty="0"/>
          </a:p>
        </p:txBody>
      </p:sp>
      <p:sp>
        <p:nvSpPr>
          <p:cNvPr id="3" name="Text 0"/>
          <p:cNvSpPr/>
          <p:nvPr>
            <p:ph idx="101" type="body" hasCustomPrompt="1"/>
          </p:nvPr>
        </p:nvSpPr>
        <p:spPr>
          <a:xfrm>
            <a:off x="457200" y="960120"/>
            <a:ext cx="11277295" cy="384048"/>
          </a:xfrm>
          <a:prstGeom prst="rect">
            <a:avLst/>
          </a:prstGeom>
          <a:noFill/>
          <a:ln/>
        </p:spPr>
        <p:txBody>
          <a:bodyPr wrap="square" lIns="0" tIns="0" rIns="0" bIns="0" rtlCol="0" anchor="t"/>
          <a:lstStyle/>
          <a:p>
            <a:pPr algn="l" indent="0" marL="0">
              <a:buNone/>
            </a:pPr>
            <a:r>
              <a:rPr lang="en-US" sz="1600" dirty="0">
                <a:solidFill>
                  <a:schemeClr val="tx2"/>
                </a:solidFill>
              </a:rPr>
              <a:t>The engine tried every legal discount in 2.5-point steps and kept the best risk-adjusted one</a:t>
            </a:r>
            <a:endParaRPr lang="en-US" sz="1600" dirty="0"/>
          </a:p>
        </p:txBody>
      </p:sp>
      <p:sp>
        <p:nvSpPr>
          <p:cNvPr id="5" name="Frame: caseA_curve_baseline"/>
          <p:cNvSpPr/>
          <p:nvPr/>
        </p:nvSpPr>
        <p:spPr>
          <a:xfrm>
            <a:off x="588504" y="1508760"/>
            <a:ext cx="11014688" cy="4846320"/>
          </a:xfrm>
          <a:prstGeom prst="rect">
            <a:avLst/>
          </a:prstGeom>
          <a:solidFill>
            <a:schemeClr val="bg1"/>
          </a:solidFill>
          <a:ln w="9525">
            <a:solidFill>
              <a:schemeClr val="bg2"/>
            </a:solidFill>
            <a:prstDash val="solid"/>
          </a:ln>
          <a:effectLst>
            <a:outerShdw sx="100000" sy="100000" kx="0" ky="0" algn="bl" rotWithShape="0" blurRad="114300" dist="38100" dir="5400000">
              <a:srgbClr val="0F172A">
                <a:alpha val="16000"/>
              </a:srgbClr>
            </a:outerShdw>
          </a:effectLst>
        </p:spPr>
      </p:sp>
      <p:sp>
        <p:nvSpPr>
          <p:cNvPr id="6" name="Window bar: caseA_curve_baseline"/>
          <p:cNvSpPr/>
          <p:nvPr/>
        </p:nvSpPr>
        <p:spPr>
          <a:xfrm>
            <a:off x="588504" y="1508760"/>
            <a:ext cx="11014688" cy="237744"/>
          </a:xfrm>
          <a:prstGeom prst="rect">
            <a:avLst/>
          </a:prstGeom>
          <a:solidFill>
            <a:schemeClr val="tx1"/>
          </a:solidFill>
          <a:ln w="6350">
            <a:solidFill>
              <a:schemeClr val="tx1"/>
            </a:solidFill>
            <a:prstDash val="solid"/>
          </a:ln>
        </p:spPr>
      </p:sp>
      <p:sp>
        <p:nvSpPr>
          <p:cNvPr id="7" name="Shape 4"/>
          <p:cNvSpPr/>
          <p:nvPr/>
        </p:nvSpPr>
        <p:spPr>
          <a:xfrm>
            <a:off x="698232" y="1591056"/>
            <a:ext cx="82296" cy="82296"/>
          </a:xfrm>
          <a:prstGeom prst="ellipse">
            <a:avLst/>
          </a:prstGeom>
          <a:solidFill>
            <a:schemeClr val="accent4"/>
          </a:solidFill>
          <a:ln w="3175">
            <a:solidFill>
              <a:schemeClr val="accent4"/>
            </a:solidFill>
            <a:prstDash val="solid"/>
          </a:ln>
        </p:spPr>
      </p:sp>
      <p:sp>
        <p:nvSpPr>
          <p:cNvPr id="8" name="Shape 5"/>
          <p:cNvSpPr/>
          <p:nvPr/>
        </p:nvSpPr>
        <p:spPr>
          <a:xfrm>
            <a:off x="844536" y="1591056"/>
            <a:ext cx="82296" cy="82296"/>
          </a:xfrm>
          <a:prstGeom prst="ellipse">
            <a:avLst/>
          </a:prstGeom>
          <a:solidFill>
            <a:schemeClr val="accent3"/>
          </a:solidFill>
          <a:ln w="3175">
            <a:solidFill>
              <a:schemeClr val="accent3"/>
            </a:solidFill>
            <a:prstDash val="solid"/>
          </a:ln>
        </p:spPr>
      </p:sp>
      <p:sp>
        <p:nvSpPr>
          <p:cNvPr id="9" name="Shape 6"/>
          <p:cNvSpPr/>
          <p:nvPr/>
        </p:nvSpPr>
        <p:spPr>
          <a:xfrm>
            <a:off x="990840" y="1591056"/>
            <a:ext cx="82296" cy="82296"/>
          </a:xfrm>
          <a:prstGeom prst="ellipse">
            <a:avLst/>
          </a:prstGeom>
          <a:solidFill>
            <a:schemeClr val="accent2"/>
          </a:solidFill>
          <a:ln w="3175">
            <a:solidFill>
              <a:schemeClr val="accent2"/>
            </a:solidFill>
            <a:prstDash val="solid"/>
          </a:ln>
        </p:spPr>
      </p:sp>
      <p:sp>
        <p:nvSpPr>
          <p:cNvPr id="10" name="URL: caseA_curve_baseline"/>
          <p:cNvSpPr txBox="1"/>
          <p:nvPr/>
        </p:nvSpPr>
        <p:spPr>
          <a:xfrm>
            <a:off x="1228584" y="1508760"/>
            <a:ext cx="10191728" cy="237744"/>
          </a:xfrm>
          <a:prstGeom prst="rect">
            <a:avLst/>
          </a:prstGeom>
          <a:noFill/>
          <a:ln/>
        </p:spPr>
        <p:txBody>
          <a:bodyPr wrap="square" lIns="0" tIns="0" rIns="0" bIns="0" rtlCol="0" anchor="ctr"/>
          <a:lstStyle/>
          <a:p>
            <a:pPr algn="l" indent="0" marL="0">
              <a:buNone/>
            </a:pPr>
            <a:r>
              <a:rPr lang="en-US" sz="1000" dirty="0">
                <a:solidFill>
                  <a:schemeClr val="bg2"/>
                </a:solidFill>
              </a:rPr>
              <a:t>localhost:3000/recommendations/p01_students_hyderabad</a:t>
            </a:r>
            <a:endParaRPr lang="en-US" sz="1000" dirty="0"/>
          </a:p>
        </p:txBody>
      </p:sp>
      <p:pic>
        <p:nvPicPr>
          <p:cNvPr id="11" name="Screenshot: caseA_curve_baseline" descr="Profit versus discount curve with the engine's pick marked, and a baseline versus promoted table with a bridge of where incremental profit comes from">    </p:cNvPr>
          <p:cNvPicPr>
            <a:picLocks noChangeAspect="1"/>
          </p:cNvPicPr>
          <p:nvPr/>
        </p:nvPicPr>
        <p:blipFill>
          <a:blip r:embed="rId1"/>
          <a:stretch>
            <a:fillRect/>
          </a:stretch>
        </p:blipFill>
        <p:spPr>
          <a:xfrm>
            <a:off x="588504" y="1746504"/>
            <a:ext cx="11014688" cy="4608576"/>
          </a:xfrm>
          <a:prstGeom prst="rect">
            <a:avLst/>
          </a:prstGeom>
        </p:spPr>
      </p:pic>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400" b="1" dirty="0">
                <a:solidFill>
                  <a:schemeClr val="tx1"/>
                </a:solidFill>
              </a:rPr>
              <a:t>Case B: no legal discount exists</a:t>
            </a:r>
            <a:endParaRPr lang="en-US" sz="3400" dirty="0"/>
          </a:p>
        </p:txBody>
      </p:sp>
      <p:sp>
        <p:nvSpPr>
          <p:cNvPr id="3" name="Text 0"/>
          <p:cNvSpPr/>
          <p:nvPr>
            <p:ph idx="101" type="body" hasCustomPrompt="1"/>
          </p:nvPr>
        </p:nvSpPr>
        <p:spPr>
          <a:xfrm>
            <a:off x="457200" y="960120"/>
            <a:ext cx="11277295" cy="384048"/>
          </a:xfrm>
          <a:prstGeom prst="rect">
            <a:avLst/>
          </a:prstGeom>
          <a:noFill/>
          <a:ln/>
        </p:spPr>
        <p:txBody>
          <a:bodyPr wrap="square" lIns="0" tIns="0" rIns="0" bIns="0" rtlCol="0" anchor="t"/>
          <a:lstStyle/>
          <a:p>
            <a:pPr algn="l" indent="0" marL="0">
              <a:buNone/>
            </a:pPr>
            <a:r>
              <a:rPr lang="en-US" sz="1600" dirty="0">
                <a:solidFill>
                  <a:schemeClr val="tx2"/>
                </a:solidFill>
              </a:rPr>
              <a:t>Television → Students in Hyderabad: cost + 5% is already above the MRP, so the engine says no</a:t>
            </a:r>
            <a:endParaRPr lang="en-US" sz="1600" dirty="0"/>
          </a:p>
        </p:txBody>
      </p:sp>
      <p:sp>
        <p:nvSpPr>
          <p:cNvPr id="5" name="Frame: caseB_banner"/>
          <p:cNvSpPr/>
          <p:nvPr/>
        </p:nvSpPr>
        <p:spPr>
          <a:xfrm>
            <a:off x="457200" y="1508760"/>
            <a:ext cx="11277295" cy="1500566"/>
          </a:xfrm>
          <a:prstGeom prst="rect">
            <a:avLst/>
          </a:prstGeom>
          <a:solidFill>
            <a:schemeClr val="bg1"/>
          </a:solidFill>
          <a:ln w="9525">
            <a:solidFill>
              <a:schemeClr val="bg2"/>
            </a:solidFill>
            <a:prstDash val="solid"/>
          </a:ln>
          <a:effectLst>
            <a:outerShdw sx="100000" sy="100000" kx="0" ky="0" algn="bl" rotWithShape="0" blurRad="114300" dist="38100" dir="5400000">
              <a:srgbClr val="0F172A">
                <a:alpha val="16000"/>
              </a:srgbClr>
            </a:outerShdw>
          </a:effectLst>
        </p:spPr>
      </p:sp>
      <p:sp>
        <p:nvSpPr>
          <p:cNvPr id="6" name="Window bar: caseB_banner"/>
          <p:cNvSpPr/>
          <p:nvPr/>
        </p:nvSpPr>
        <p:spPr>
          <a:xfrm>
            <a:off x="457200" y="1508760"/>
            <a:ext cx="11277295" cy="237744"/>
          </a:xfrm>
          <a:prstGeom prst="rect">
            <a:avLst/>
          </a:prstGeom>
          <a:solidFill>
            <a:schemeClr val="tx1"/>
          </a:solidFill>
          <a:ln w="6350">
            <a:solidFill>
              <a:schemeClr val="tx1"/>
            </a:solidFill>
            <a:prstDash val="solid"/>
          </a:ln>
        </p:spPr>
      </p:sp>
      <p:sp>
        <p:nvSpPr>
          <p:cNvPr id="7" name="Shape 4"/>
          <p:cNvSpPr/>
          <p:nvPr/>
        </p:nvSpPr>
        <p:spPr>
          <a:xfrm>
            <a:off x="566928" y="1591056"/>
            <a:ext cx="82296" cy="82296"/>
          </a:xfrm>
          <a:prstGeom prst="ellipse">
            <a:avLst/>
          </a:prstGeom>
          <a:solidFill>
            <a:schemeClr val="accent4"/>
          </a:solidFill>
          <a:ln w="3175">
            <a:solidFill>
              <a:schemeClr val="accent4"/>
            </a:solidFill>
            <a:prstDash val="solid"/>
          </a:ln>
        </p:spPr>
      </p:sp>
      <p:sp>
        <p:nvSpPr>
          <p:cNvPr id="8" name="Shape 5"/>
          <p:cNvSpPr/>
          <p:nvPr/>
        </p:nvSpPr>
        <p:spPr>
          <a:xfrm>
            <a:off x="713232" y="1591056"/>
            <a:ext cx="82296" cy="82296"/>
          </a:xfrm>
          <a:prstGeom prst="ellipse">
            <a:avLst/>
          </a:prstGeom>
          <a:solidFill>
            <a:schemeClr val="accent3"/>
          </a:solidFill>
          <a:ln w="3175">
            <a:solidFill>
              <a:schemeClr val="accent3"/>
            </a:solidFill>
            <a:prstDash val="solid"/>
          </a:ln>
        </p:spPr>
      </p:sp>
      <p:sp>
        <p:nvSpPr>
          <p:cNvPr id="9" name="Shape 6"/>
          <p:cNvSpPr/>
          <p:nvPr/>
        </p:nvSpPr>
        <p:spPr>
          <a:xfrm>
            <a:off x="859536" y="1591056"/>
            <a:ext cx="82296" cy="82296"/>
          </a:xfrm>
          <a:prstGeom prst="ellipse">
            <a:avLst/>
          </a:prstGeom>
          <a:solidFill>
            <a:schemeClr val="accent2"/>
          </a:solidFill>
          <a:ln w="3175">
            <a:solidFill>
              <a:schemeClr val="accent2"/>
            </a:solidFill>
            <a:prstDash val="solid"/>
          </a:ln>
        </p:spPr>
      </p:sp>
      <p:sp>
        <p:nvSpPr>
          <p:cNvPr id="10" name="URL: caseB_banner"/>
          <p:cNvSpPr txBox="1"/>
          <p:nvPr/>
        </p:nvSpPr>
        <p:spPr>
          <a:xfrm>
            <a:off x="1097280" y="1508760"/>
            <a:ext cx="10454335" cy="237744"/>
          </a:xfrm>
          <a:prstGeom prst="rect">
            <a:avLst/>
          </a:prstGeom>
          <a:noFill/>
          <a:ln/>
        </p:spPr>
        <p:txBody>
          <a:bodyPr wrap="square" lIns="0" tIns="0" rIns="0" bIns="0" rtlCol="0" anchor="ctr"/>
          <a:lstStyle/>
          <a:p>
            <a:pPr algn="l" indent="0" marL="0">
              <a:buNone/>
            </a:pPr>
            <a:r>
              <a:rPr lang="en-US" sz="1000" dirty="0">
                <a:solidFill>
                  <a:schemeClr val="bg2"/>
                </a:solidFill>
              </a:rPr>
              <a:t>localhost:3000/recommendations/p12_students_hyderabad</a:t>
            </a:r>
            <a:endParaRPr lang="en-US" sz="1000" dirty="0"/>
          </a:p>
        </p:txBody>
      </p:sp>
      <p:pic>
        <p:nvPicPr>
          <p:cNvPr id="11" name="Screenshot: caseB_banner" descr="Red banner: no profitable discount available for Television to Students in Hyderabad">    </p:cNvPr>
          <p:cNvPicPr>
            <a:picLocks noChangeAspect="1"/>
          </p:cNvPicPr>
          <p:nvPr/>
        </p:nvPicPr>
        <p:blipFill>
          <a:blip r:embed="rId1"/>
          <a:stretch>
            <a:fillRect/>
          </a:stretch>
        </p:blipFill>
        <p:spPr>
          <a:xfrm>
            <a:off x="457200" y="1746504"/>
            <a:ext cx="11277295" cy="1262822"/>
          </a:xfrm>
          <a:prstGeom prst="rect">
            <a:avLst/>
          </a:prstGeom>
        </p:spPr>
      </p:pic>
      <p:sp>
        <p:nvSpPr>
          <p:cNvPr id="12" name="Frame: caseB_chart"/>
          <p:cNvSpPr/>
          <p:nvPr/>
        </p:nvSpPr>
        <p:spPr>
          <a:xfrm>
            <a:off x="457200" y="3237926"/>
            <a:ext cx="5536694" cy="3117154"/>
          </a:xfrm>
          <a:prstGeom prst="rect">
            <a:avLst/>
          </a:prstGeom>
          <a:solidFill>
            <a:schemeClr val="bg1"/>
          </a:solidFill>
          <a:ln w="9525">
            <a:solidFill>
              <a:schemeClr val="bg2"/>
            </a:solidFill>
            <a:prstDash val="solid"/>
          </a:ln>
          <a:effectLst>
            <a:outerShdw sx="100000" sy="100000" kx="0" ky="0" algn="bl" rotWithShape="0" blurRad="114300" dist="38100" dir="5400000">
              <a:srgbClr val="0F172A">
                <a:alpha val="16000"/>
              </a:srgbClr>
            </a:outerShdw>
          </a:effectLst>
        </p:spPr>
      </p:sp>
      <p:sp>
        <p:nvSpPr>
          <p:cNvPr id="13" name="Window bar: caseB_chart"/>
          <p:cNvSpPr/>
          <p:nvPr/>
        </p:nvSpPr>
        <p:spPr>
          <a:xfrm>
            <a:off x="457200" y="3237926"/>
            <a:ext cx="5536694" cy="237744"/>
          </a:xfrm>
          <a:prstGeom prst="rect">
            <a:avLst/>
          </a:prstGeom>
          <a:solidFill>
            <a:schemeClr val="tx1"/>
          </a:solidFill>
          <a:ln w="6350">
            <a:solidFill>
              <a:schemeClr val="tx1"/>
            </a:solidFill>
            <a:prstDash val="solid"/>
          </a:ln>
        </p:spPr>
      </p:sp>
      <p:sp>
        <p:nvSpPr>
          <p:cNvPr id="14" name="Shape 10"/>
          <p:cNvSpPr/>
          <p:nvPr/>
        </p:nvSpPr>
        <p:spPr>
          <a:xfrm>
            <a:off x="566928" y="3320222"/>
            <a:ext cx="82296" cy="82296"/>
          </a:xfrm>
          <a:prstGeom prst="ellipse">
            <a:avLst/>
          </a:prstGeom>
          <a:solidFill>
            <a:schemeClr val="accent4"/>
          </a:solidFill>
          <a:ln w="3175">
            <a:solidFill>
              <a:schemeClr val="accent4"/>
            </a:solidFill>
            <a:prstDash val="solid"/>
          </a:ln>
        </p:spPr>
      </p:sp>
      <p:sp>
        <p:nvSpPr>
          <p:cNvPr id="15" name="Shape 11"/>
          <p:cNvSpPr/>
          <p:nvPr/>
        </p:nvSpPr>
        <p:spPr>
          <a:xfrm>
            <a:off x="713232" y="3320222"/>
            <a:ext cx="82296" cy="82296"/>
          </a:xfrm>
          <a:prstGeom prst="ellipse">
            <a:avLst/>
          </a:prstGeom>
          <a:solidFill>
            <a:schemeClr val="accent3"/>
          </a:solidFill>
          <a:ln w="3175">
            <a:solidFill>
              <a:schemeClr val="accent3"/>
            </a:solidFill>
            <a:prstDash val="solid"/>
          </a:ln>
        </p:spPr>
      </p:sp>
      <p:sp>
        <p:nvSpPr>
          <p:cNvPr id="16" name="Shape 12"/>
          <p:cNvSpPr/>
          <p:nvPr/>
        </p:nvSpPr>
        <p:spPr>
          <a:xfrm>
            <a:off x="859536" y="3320222"/>
            <a:ext cx="82296" cy="82296"/>
          </a:xfrm>
          <a:prstGeom prst="ellipse">
            <a:avLst/>
          </a:prstGeom>
          <a:solidFill>
            <a:schemeClr val="accent2"/>
          </a:solidFill>
          <a:ln w="3175">
            <a:solidFill>
              <a:schemeClr val="accent2"/>
            </a:solidFill>
            <a:prstDash val="solid"/>
          </a:ln>
        </p:spPr>
      </p:sp>
      <p:sp>
        <p:nvSpPr>
          <p:cNvPr id="17" name="URL: caseB_chart"/>
          <p:cNvSpPr txBox="1"/>
          <p:nvPr/>
        </p:nvSpPr>
        <p:spPr>
          <a:xfrm>
            <a:off x="1097280" y="3237926"/>
            <a:ext cx="4713734" cy="237744"/>
          </a:xfrm>
          <a:prstGeom prst="rect">
            <a:avLst/>
          </a:prstGeom>
          <a:noFill/>
          <a:ln/>
        </p:spPr>
        <p:txBody>
          <a:bodyPr wrap="square" lIns="0" tIns="0" rIns="0" bIns="0" rtlCol="0" anchor="ctr"/>
          <a:lstStyle/>
          <a:p>
            <a:pPr algn="l" indent="0" marL="0">
              <a:buNone/>
            </a:pPr>
            <a:r>
              <a:rPr lang="en-US" sz="1000" dirty="0">
                <a:solidFill>
                  <a:schemeClr val="bg2"/>
                </a:solidFill>
              </a:rPr>
              <a:t>localhost:3000/recommendations/p12_students_hyderabad</a:t>
            </a:r>
            <a:endParaRPr lang="en-US" sz="1000" dirty="0"/>
          </a:p>
        </p:txBody>
      </p:sp>
      <p:pic>
        <p:nvPicPr>
          <p:cNvPr id="18" name="Screenshot: caseB_chart" descr="Profit versus discount chart for the television, entirely shaded as illegal">    </p:cNvPr>
          <p:cNvPicPr>
            <a:picLocks noChangeAspect="1"/>
          </p:cNvPicPr>
          <p:nvPr/>
        </p:nvPicPr>
        <p:blipFill>
          <a:blip r:embed="rId2"/>
          <a:stretch>
            <a:fillRect/>
          </a:stretch>
        </p:blipFill>
        <p:spPr>
          <a:xfrm>
            <a:off x="457200" y="3475670"/>
            <a:ext cx="5536694" cy="2879410"/>
          </a:xfrm>
          <a:prstGeom prst="rect">
            <a:avLst/>
          </a:prstGeom>
        </p:spPr>
      </p:pic>
      <p:sp>
        <p:nvSpPr>
          <p:cNvPr id="19" name="Tile: Cheapest legal offer"/>
          <p:cNvSpPr/>
          <p:nvPr/>
        </p:nvSpPr>
        <p:spPr>
          <a:xfrm>
            <a:off x="6359654" y="3237926"/>
            <a:ext cx="5374841" cy="917131"/>
          </a:xfrm>
          <a:prstGeom prst="roundRect">
            <a:avLst>
              <a:gd name="adj" fmla="val 7976"/>
            </a:avLst>
          </a:prstGeom>
          <a:solidFill>
            <a:schemeClr val="bg2"/>
          </a:solidFill>
          <a:ln w="3175">
            <a:solidFill>
              <a:schemeClr val="bg2"/>
            </a:solidFill>
            <a:prstDash val="solid"/>
          </a:ln>
        </p:spPr>
      </p:sp>
      <p:sp>
        <p:nvSpPr>
          <p:cNvPr id="20" name="Text 15"/>
          <p:cNvSpPr txBox="1"/>
          <p:nvPr/>
        </p:nvSpPr>
        <p:spPr>
          <a:xfrm>
            <a:off x="6542534" y="3237926"/>
            <a:ext cx="1920240" cy="917131"/>
          </a:xfrm>
          <a:prstGeom prst="rect">
            <a:avLst/>
          </a:prstGeom>
          <a:noFill/>
          <a:ln/>
        </p:spPr>
        <p:txBody>
          <a:bodyPr wrap="square" lIns="0" tIns="0" rIns="0" bIns="0" rtlCol="0" anchor="ctr"/>
          <a:lstStyle/>
          <a:p>
            <a:pPr algn="l" indent="0" marL="0">
              <a:buNone/>
            </a:pPr>
            <a:r>
              <a:rPr lang="en-US" sz="3200" b="1" dirty="0">
                <a:solidFill>
                  <a:schemeClr val="accent4"/>
                </a:solidFill>
                <a:latin typeface="Calibri" pitchFamily="34" charset="0"/>
                <a:ea typeface="Calibri" pitchFamily="34" charset="-122"/>
                <a:cs typeface="Calibri" pitchFamily="34" charset="-120"/>
              </a:rPr>
              <a:t>₹35,280</a:t>
            </a:r>
            <a:endParaRPr lang="en-US" sz="3200" dirty="0"/>
          </a:p>
        </p:txBody>
      </p:sp>
      <p:sp>
        <p:nvSpPr>
          <p:cNvPr id="21" name="Text 16"/>
          <p:cNvSpPr txBox="1"/>
          <p:nvPr/>
        </p:nvSpPr>
        <p:spPr>
          <a:xfrm>
            <a:off x="8554214" y="3329366"/>
            <a:ext cx="3043121" cy="734251"/>
          </a:xfrm>
          <a:prstGeom prst="rect">
            <a:avLst/>
          </a:prstGeom>
          <a:noFill/>
          <a:ln/>
        </p:spPr>
        <p:txBody>
          <a:bodyPr wrap="square" lIns="0" tIns="0" rIns="0" bIns="0" rtlCol="0" anchor="ctr"/>
          <a:lstStyle/>
          <a:p>
            <a:pPr algn="l" indent="0" marL="0">
              <a:buNone/>
            </a:pPr>
            <a:r>
              <a:rPr lang="en-US" sz="1600" b="1" dirty="0">
                <a:solidFill>
                  <a:schemeClr val="tx1"/>
                </a:solidFill>
              </a:rPr>
              <a:t>Cheapest legal offer</a:t>
            </a:r>
            <a:endParaRPr lang="en-US" sz="1600" dirty="0"/>
          </a:p>
          <a:p>
            <a:pPr algn="l" indent="0" marL="0">
              <a:buNone/>
            </a:pPr>
            <a:r>
              <a:rPr lang="en-US" sz="1400" dirty="0">
                <a:solidFill>
                  <a:schemeClr val="tx2"/>
                </a:solidFill>
              </a:rPr>
              <a:t>Cost ₹33,600 + 5% floor</a:t>
            </a:r>
            <a:endParaRPr lang="en-US" sz="1600" dirty="0"/>
          </a:p>
        </p:txBody>
      </p:sp>
      <p:sp>
        <p:nvSpPr>
          <p:cNvPr id="22" name="Tile: MRP"/>
          <p:cNvSpPr/>
          <p:nvPr/>
        </p:nvSpPr>
        <p:spPr>
          <a:xfrm>
            <a:off x="6359654" y="4337937"/>
            <a:ext cx="5374841" cy="917131"/>
          </a:xfrm>
          <a:prstGeom prst="roundRect">
            <a:avLst>
              <a:gd name="adj" fmla="val 7976"/>
            </a:avLst>
          </a:prstGeom>
          <a:solidFill>
            <a:schemeClr val="bg2"/>
          </a:solidFill>
          <a:ln w="3175">
            <a:solidFill>
              <a:schemeClr val="bg2"/>
            </a:solidFill>
            <a:prstDash val="solid"/>
          </a:ln>
        </p:spPr>
      </p:sp>
      <p:sp>
        <p:nvSpPr>
          <p:cNvPr id="23" name="Text 18"/>
          <p:cNvSpPr txBox="1"/>
          <p:nvPr/>
        </p:nvSpPr>
        <p:spPr>
          <a:xfrm>
            <a:off x="6542534" y="4337937"/>
            <a:ext cx="1920240" cy="917131"/>
          </a:xfrm>
          <a:prstGeom prst="rect">
            <a:avLst/>
          </a:prstGeom>
          <a:noFill/>
          <a:ln/>
        </p:spPr>
        <p:txBody>
          <a:bodyPr wrap="square" lIns="0" tIns="0" rIns="0" bIns="0" rtlCol="0" anchor="ctr"/>
          <a:lstStyle/>
          <a:p>
            <a:pPr algn="l" indent="0" marL="0">
              <a:buNone/>
            </a:pPr>
            <a:r>
              <a:rPr lang="en-US" sz="3200" b="1" dirty="0">
                <a:solidFill>
                  <a:schemeClr val="tx1"/>
                </a:solidFill>
                <a:latin typeface="Calibri" pitchFamily="34" charset="0"/>
                <a:ea typeface="Calibri" pitchFamily="34" charset="-122"/>
                <a:cs typeface="Calibri" pitchFamily="34" charset="-120"/>
              </a:rPr>
              <a:t>₹34,999</a:t>
            </a:r>
            <a:endParaRPr lang="en-US" sz="3200" dirty="0"/>
          </a:p>
        </p:txBody>
      </p:sp>
      <p:sp>
        <p:nvSpPr>
          <p:cNvPr id="24" name="Text 19"/>
          <p:cNvSpPr txBox="1"/>
          <p:nvPr/>
        </p:nvSpPr>
        <p:spPr>
          <a:xfrm>
            <a:off x="8554214" y="4429377"/>
            <a:ext cx="3043121" cy="734251"/>
          </a:xfrm>
          <a:prstGeom prst="rect">
            <a:avLst/>
          </a:prstGeom>
          <a:noFill/>
          <a:ln/>
        </p:spPr>
        <p:txBody>
          <a:bodyPr wrap="square" lIns="0" tIns="0" rIns="0" bIns="0" rtlCol="0" anchor="ctr"/>
          <a:lstStyle/>
          <a:p>
            <a:pPr algn="l" indent="0" marL="0">
              <a:buNone/>
            </a:pPr>
            <a:r>
              <a:rPr lang="en-US" sz="1600" b="1" dirty="0">
                <a:solidFill>
                  <a:schemeClr val="tx1"/>
                </a:solidFill>
              </a:rPr>
              <a:t>MRP</a:t>
            </a:r>
            <a:endParaRPr lang="en-US" sz="1600" dirty="0"/>
          </a:p>
          <a:p>
            <a:pPr algn="l" indent="0" marL="0">
              <a:buNone/>
            </a:pPr>
            <a:r>
              <a:rPr lang="en-US" sz="1400" dirty="0">
                <a:solidFill>
                  <a:schemeClr val="tx2"/>
                </a:solidFill>
              </a:rPr>
              <a:t>Lower than the cheapest legal offer</a:t>
            </a:r>
            <a:endParaRPr lang="en-US" sz="1600" dirty="0"/>
          </a:p>
        </p:txBody>
      </p:sp>
      <p:sp>
        <p:nvSpPr>
          <p:cNvPr id="25" name="Tile: Margin at MRP"/>
          <p:cNvSpPr/>
          <p:nvPr/>
        </p:nvSpPr>
        <p:spPr>
          <a:xfrm>
            <a:off x="6359654" y="5437949"/>
            <a:ext cx="5374841" cy="917131"/>
          </a:xfrm>
          <a:prstGeom prst="roundRect">
            <a:avLst>
              <a:gd name="adj" fmla="val 7976"/>
            </a:avLst>
          </a:prstGeom>
          <a:solidFill>
            <a:schemeClr val="bg2"/>
          </a:solidFill>
          <a:ln w="3175">
            <a:solidFill>
              <a:schemeClr val="bg2"/>
            </a:solidFill>
            <a:prstDash val="solid"/>
          </a:ln>
        </p:spPr>
      </p:sp>
      <p:sp>
        <p:nvSpPr>
          <p:cNvPr id="26" name="Text 21"/>
          <p:cNvSpPr txBox="1"/>
          <p:nvPr/>
        </p:nvSpPr>
        <p:spPr>
          <a:xfrm>
            <a:off x="6542534" y="5437949"/>
            <a:ext cx="1920240" cy="917131"/>
          </a:xfrm>
          <a:prstGeom prst="rect">
            <a:avLst/>
          </a:prstGeom>
          <a:noFill/>
          <a:ln/>
        </p:spPr>
        <p:txBody>
          <a:bodyPr wrap="square" lIns="0" tIns="0" rIns="0" bIns="0" rtlCol="0" anchor="ctr"/>
          <a:lstStyle/>
          <a:p>
            <a:pPr algn="l" indent="0" marL="0">
              <a:buNone/>
            </a:pPr>
            <a:r>
              <a:rPr lang="en-US" sz="3200" b="1" dirty="0">
                <a:solidFill>
                  <a:schemeClr val="accent4"/>
                </a:solidFill>
                <a:latin typeface="Calibri" pitchFamily="34" charset="0"/>
                <a:ea typeface="Calibri" pitchFamily="34" charset="-122"/>
                <a:cs typeface="Calibri" pitchFamily="34" charset="-120"/>
              </a:rPr>
              <a:t>4.0%</a:t>
            </a:r>
            <a:endParaRPr lang="en-US" sz="3200" dirty="0"/>
          </a:p>
        </p:txBody>
      </p:sp>
      <p:sp>
        <p:nvSpPr>
          <p:cNvPr id="27" name="Text 22"/>
          <p:cNvSpPr txBox="1"/>
          <p:nvPr/>
        </p:nvSpPr>
        <p:spPr>
          <a:xfrm>
            <a:off x="8554214" y="5529389"/>
            <a:ext cx="3043121" cy="734251"/>
          </a:xfrm>
          <a:prstGeom prst="rect">
            <a:avLst/>
          </a:prstGeom>
          <a:noFill/>
          <a:ln/>
        </p:spPr>
        <p:txBody>
          <a:bodyPr wrap="square" lIns="0" tIns="0" rIns="0" bIns="0" rtlCol="0" anchor="ctr"/>
          <a:lstStyle/>
          <a:p>
            <a:pPr algn="l" indent="0" marL="0">
              <a:buNone/>
            </a:pPr>
            <a:r>
              <a:rPr lang="en-US" sz="1600" b="1" dirty="0">
                <a:solidFill>
                  <a:schemeClr val="tx1"/>
                </a:solidFill>
              </a:rPr>
              <a:t>Margin at MRP</a:t>
            </a:r>
            <a:endParaRPr lang="en-US" sz="1600" dirty="0"/>
          </a:p>
          <a:p>
            <a:pPr algn="l" indent="0" marL="0">
              <a:buNone/>
            </a:pPr>
            <a:r>
              <a:rPr lang="en-US" sz="1400" dirty="0">
                <a:solidFill>
                  <a:schemeClr val="tx2"/>
                </a:solidFill>
              </a:rPr>
              <a:t>The floor needs 5%, so no room</a:t>
            </a:r>
            <a:endParaRPr lang="en-US" sz="1600" dirty="0"/>
          </a:p>
        </p:txBody>
      </p:sp>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400" b="1" dirty="0">
                <a:solidFill>
                  <a:schemeClr val="tx1"/>
                </a:solidFill>
              </a:rPr>
              <a:t>Case C: overstock becomes clearance</a:t>
            </a:r>
            <a:endParaRPr lang="en-US" sz="3400" dirty="0"/>
          </a:p>
        </p:txBody>
      </p:sp>
      <p:sp>
        <p:nvSpPr>
          <p:cNvPr id="3" name="Text 0"/>
          <p:cNvSpPr/>
          <p:nvPr>
            <p:ph idx="101" type="body" hasCustomPrompt="1"/>
          </p:nvPr>
        </p:nvSpPr>
        <p:spPr>
          <a:xfrm>
            <a:off x="457200" y="960120"/>
            <a:ext cx="11277295" cy="384048"/>
          </a:xfrm>
          <a:prstGeom prst="rect">
            <a:avLst/>
          </a:prstGeom>
          <a:noFill/>
          <a:ln/>
        </p:spPr>
        <p:txBody>
          <a:bodyPr wrap="square" lIns="0" tIns="0" rIns="0" bIns="0" rtlCol="0" anchor="t"/>
          <a:lstStyle/>
          <a:p>
            <a:pPr algn="l" indent="0" marL="0">
              <a:buNone/>
            </a:pPr>
            <a:r>
              <a:rPr lang="en-US" sz="1600" dirty="0">
                <a:solidFill>
                  <a:schemeClr val="tx2"/>
                </a:solidFill>
              </a:rPr>
              <a:t>Coffee Maker → Families in Chennai: 12.5% off to all 1,820 customers adds ₹20,485</a:t>
            </a:r>
            <a:endParaRPr lang="en-US" sz="1600" dirty="0"/>
          </a:p>
        </p:txBody>
      </p:sp>
      <p:sp>
        <p:nvSpPr>
          <p:cNvPr id="5" name="Frame: caseC_top"/>
          <p:cNvSpPr/>
          <p:nvPr/>
        </p:nvSpPr>
        <p:spPr>
          <a:xfrm>
            <a:off x="457200" y="1508760"/>
            <a:ext cx="11277295" cy="3409483"/>
          </a:xfrm>
          <a:prstGeom prst="rect">
            <a:avLst/>
          </a:prstGeom>
          <a:solidFill>
            <a:schemeClr val="bg1"/>
          </a:solidFill>
          <a:ln w="9525">
            <a:solidFill>
              <a:schemeClr val="bg2"/>
            </a:solidFill>
            <a:prstDash val="solid"/>
          </a:ln>
          <a:effectLst>
            <a:outerShdw sx="100000" sy="100000" kx="0" ky="0" algn="bl" rotWithShape="0" blurRad="114300" dist="38100" dir="5400000">
              <a:srgbClr val="0F172A">
                <a:alpha val="16000"/>
              </a:srgbClr>
            </a:outerShdw>
          </a:effectLst>
        </p:spPr>
      </p:sp>
      <p:sp>
        <p:nvSpPr>
          <p:cNvPr id="6" name="Window bar: caseC_top"/>
          <p:cNvSpPr/>
          <p:nvPr/>
        </p:nvSpPr>
        <p:spPr>
          <a:xfrm>
            <a:off x="457200" y="1508760"/>
            <a:ext cx="11277295" cy="237744"/>
          </a:xfrm>
          <a:prstGeom prst="rect">
            <a:avLst/>
          </a:prstGeom>
          <a:solidFill>
            <a:schemeClr val="tx1"/>
          </a:solidFill>
          <a:ln w="6350">
            <a:solidFill>
              <a:schemeClr val="tx1"/>
            </a:solidFill>
            <a:prstDash val="solid"/>
          </a:ln>
        </p:spPr>
      </p:sp>
      <p:sp>
        <p:nvSpPr>
          <p:cNvPr id="7" name="Shape 4"/>
          <p:cNvSpPr/>
          <p:nvPr/>
        </p:nvSpPr>
        <p:spPr>
          <a:xfrm>
            <a:off x="566928" y="1591056"/>
            <a:ext cx="82296" cy="82296"/>
          </a:xfrm>
          <a:prstGeom prst="ellipse">
            <a:avLst/>
          </a:prstGeom>
          <a:solidFill>
            <a:schemeClr val="accent4"/>
          </a:solidFill>
          <a:ln w="3175">
            <a:solidFill>
              <a:schemeClr val="accent4"/>
            </a:solidFill>
            <a:prstDash val="solid"/>
          </a:ln>
        </p:spPr>
      </p:sp>
      <p:sp>
        <p:nvSpPr>
          <p:cNvPr id="8" name="Shape 5"/>
          <p:cNvSpPr/>
          <p:nvPr/>
        </p:nvSpPr>
        <p:spPr>
          <a:xfrm>
            <a:off x="713232" y="1591056"/>
            <a:ext cx="82296" cy="82296"/>
          </a:xfrm>
          <a:prstGeom prst="ellipse">
            <a:avLst/>
          </a:prstGeom>
          <a:solidFill>
            <a:schemeClr val="accent3"/>
          </a:solidFill>
          <a:ln w="3175">
            <a:solidFill>
              <a:schemeClr val="accent3"/>
            </a:solidFill>
            <a:prstDash val="solid"/>
          </a:ln>
        </p:spPr>
      </p:sp>
      <p:sp>
        <p:nvSpPr>
          <p:cNvPr id="9" name="Shape 6"/>
          <p:cNvSpPr/>
          <p:nvPr/>
        </p:nvSpPr>
        <p:spPr>
          <a:xfrm>
            <a:off x="859536" y="1591056"/>
            <a:ext cx="82296" cy="82296"/>
          </a:xfrm>
          <a:prstGeom prst="ellipse">
            <a:avLst/>
          </a:prstGeom>
          <a:solidFill>
            <a:schemeClr val="accent2"/>
          </a:solidFill>
          <a:ln w="3175">
            <a:solidFill>
              <a:schemeClr val="accent2"/>
            </a:solidFill>
            <a:prstDash val="solid"/>
          </a:ln>
        </p:spPr>
      </p:sp>
      <p:sp>
        <p:nvSpPr>
          <p:cNvPr id="10" name="URL: caseC_top"/>
          <p:cNvSpPr txBox="1"/>
          <p:nvPr/>
        </p:nvSpPr>
        <p:spPr>
          <a:xfrm>
            <a:off x="1097280" y="1508760"/>
            <a:ext cx="10454335" cy="237744"/>
          </a:xfrm>
          <a:prstGeom prst="rect">
            <a:avLst/>
          </a:prstGeom>
          <a:noFill/>
          <a:ln/>
        </p:spPr>
        <p:txBody>
          <a:bodyPr wrap="square" lIns="0" tIns="0" rIns="0" bIns="0" rtlCol="0" anchor="ctr"/>
          <a:lstStyle/>
          <a:p>
            <a:pPr algn="l" indent="0" marL="0">
              <a:buNone/>
            </a:pPr>
            <a:r>
              <a:rPr lang="en-US" sz="1000" dirty="0">
                <a:solidFill>
                  <a:schemeClr val="bg2"/>
                </a:solidFill>
              </a:rPr>
              <a:t>localhost:3000/recommendations/p14_families_chennai</a:t>
            </a:r>
            <a:endParaRPr lang="en-US" sz="1000" dirty="0"/>
          </a:p>
        </p:txBody>
      </p:sp>
      <p:pic>
        <p:nvPicPr>
          <p:cNvPr id="11" name="Screenshot: caseC_top" descr="Recommendation detail for Coffee Maker to Families in Chennai: clearance promotion recommended, 12.5% discount, audience 1,820, incremental profit 20,485">    </p:cNvPr>
          <p:cNvPicPr>
            <a:picLocks noChangeAspect="1"/>
          </p:cNvPicPr>
          <p:nvPr/>
        </p:nvPicPr>
        <p:blipFill>
          <a:blip r:embed="rId1"/>
          <a:stretch>
            <a:fillRect/>
          </a:stretch>
        </p:blipFill>
        <p:spPr>
          <a:xfrm>
            <a:off x="457200" y="1746504"/>
            <a:ext cx="11277295" cy="3171739"/>
          </a:xfrm>
          <a:prstGeom prst="rect">
            <a:avLst/>
          </a:prstGeom>
        </p:spPr>
      </p:pic>
      <p:sp>
        <p:nvSpPr>
          <p:cNvPr id="12" name="Chip"/>
          <p:cNvSpPr/>
          <p:nvPr/>
        </p:nvSpPr>
        <p:spPr>
          <a:xfrm>
            <a:off x="457200" y="5192563"/>
            <a:ext cx="3606698" cy="1116797"/>
          </a:xfrm>
          <a:prstGeom prst="roundRect">
            <a:avLst>
              <a:gd name="adj" fmla="val 6550"/>
            </a:avLst>
          </a:prstGeom>
          <a:solidFill>
            <a:schemeClr val="bg2"/>
          </a:solidFill>
          <a:ln w="3175">
            <a:solidFill>
              <a:schemeClr val="bg2"/>
            </a:solidFill>
            <a:prstDash val="solid"/>
          </a:ln>
        </p:spPr>
      </p:sp>
      <p:sp>
        <p:nvSpPr>
          <p:cNvPr id="13" name="Shape 9"/>
          <p:cNvSpPr/>
          <p:nvPr/>
        </p:nvSpPr>
        <p:spPr>
          <a:xfrm>
            <a:off x="621792" y="5549794"/>
            <a:ext cx="402336" cy="402336"/>
          </a:xfrm>
          <a:prstGeom prst="ellipse">
            <a:avLst/>
          </a:prstGeom>
          <a:solidFill>
            <a:schemeClr val="accent6"/>
          </a:solidFill>
          <a:ln w="3175">
            <a:solidFill>
              <a:schemeClr val="accent6"/>
            </a:solidFill>
            <a:prstDash val="solid"/>
          </a:ln>
        </p:spPr>
      </p:sp>
      <p:pic>
        <p:nvPicPr>
          <p:cNvPr id="14" name="Image 1" descr="preencoded.png">    </p:cNvPr>
          <p:cNvPicPr>
            <a:picLocks noChangeAspect="1"/>
          </p:cNvPicPr>
          <p:nvPr/>
        </p:nvPicPr>
        <p:blipFill>
          <a:blip r:embed="rId2"/>
          <a:stretch>
            <a:fillRect/>
          </a:stretch>
        </p:blipFill>
        <p:spPr>
          <a:xfrm>
            <a:off x="726399" y="5654401"/>
            <a:ext cx="193121" cy="193121"/>
          </a:xfrm>
          <a:prstGeom prst="rect">
            <a:avLst/>
          </a:prstGeom>
        </p:spPr>
      </p:pic>
      <p:sp>
        <p:nvSpPr>
          <p:cNvPr id="15" name="Text 10"/>
          <p:cNvSpPr txBox="1"/>
          <p:nvPr/>
        </p:nvSpPr>
        <p:spPr>
          <a:xfrm>
            <a:off x="1161288" y="5265715"/>
            <a:ext cx="2765450" cy="970493"/>
          </a:xfrm>
          <a:prstGeom prst="rect">
            <a:avLst/>
          </a:prstGeom>
          <a:noFill/>
          <a:ln/>
        </p:spPr>
        <p:txBody>
          <a:bodyPr wrap="square" lIns="0" tIns="0" rIns="0" bIns="0" rtlCol="0" anchor="ctr"/>
          <a:lstStyle/>
          <a:p>
            <a:pPr algn="l" indent="0" marL="0">
              <a:buNone/>
            </a:pPr>
            <a:r>
              <a:rPr lang="en-US" sz="1400" dirty="0">
                <a:solidFill>
                  <a:schemeClr val="tx1"/>
                </a:solidFill>
              </a:rPr>
              <a:t>141 days of cover marks it Overstock; clearing releases ₹4,705 of holding cost</a:t>
            </a:r>
            <a:endParaRPr lang="en-US" sz="1400" dirty="0"/>
          </a:p>
        </p:txBody>
      </p:sp>
      <p:sp>
        <p:nvSpPr>
          <p:cNvPr id="16" name="Chip"/>
          <p:cNvSpPr/>
          <p:nvPr/>
        </p:nvSpPr>
        <p:spPr>
          <a:xfrm>
            <a:off x="4292498" y="5192563"/>
            <a:ext cx="3606698" cy="1116797"/>
          </a:xfrm>
          <a:prstGeom prst="roundRect">
            <a:avLst>
              <a:gd name="adj" fmla="val 6550"/>
            </a:avLst>
          </a:prstGeom>
          <a:solidFill>
            <a:schemeClr val="bg2"/>
          </a:solidFill>
          <a:ln w="3175">
            <a:solidFill>
              <a:schemeClr val="bg2"/>
            </a:solidFill>
            <a:prstDash val="solid"/>
          </a:ln>
        </p:spPr>
      </p:sp>
      <p:sp>
        <p:nvSpPr>
          <p:cNvPr id="17" name="Shape 12"/>
          <p:cNvSpPr/>
          <p:nvPr/>
        </p:nvSpPr>
        <p:spPr>
          <a:xfrm>
            <a:off x="4457090" y="5549794"/>
            <a:ext cx="402336" cy="402336"/>
          </a:xfrm>
          <a:prstGeom prst="ellipse">
            <a:avLst/>
          </a:prstGeom>
          <a:solidFill>
            <a:schemeClr val="accent2"/>
          </a:solidFill>
          <a:ln w="3175">
            <a:solidFill>
              <a:schemeClr val="accent2"/>
            </a:solidFill>
            <a:prstDash val="solid"/>
          </a:ln>
        </p:spPr>
      </p:sp>
      <p:pic>
        <p:nvPicPr>
          <p:cNvPr id="18" name="Image 2" descr="preencoded.png">    </p:cNvPr>
          <p:cNvPicPr>
            <a:picLocks noChangeAspect="1"/>
          </p:cNvPicPr>
          <p:nvPr/>
        </p:nvPicPr>
        <p:blipFill>
          <a:blip r:embed="rId3"/>
          <a:stretch>
            <a:fillRect/>
          </a:stretch>
        </p:blipFill>
        <p:spPr>
          <a:xfrm>
            <a:off x="4561698" y="5654401"/>
            <a:ext cx="193121" cy="193121"/>
          </a:xfrm>
          <a:prstGeom prst="rect">
            <a:avLst/>
          </a:prstGeom>
        </p:spPr>
      </p:pic>
      <p:sp>
        <p:nvSpPr>
          <p:cNvPr id="19" name="Text 13"/>
          <p:cNvSpPr txBox="1"/>
          <p:nvPr/>
        </p:nvSpPr>
        <p:spPr>
          <a:xfrm>
            <a:off x="4996586" y="5265715"/>
            <a:ext cx="2765450" cy="970493"/>
          </a:xfrm>
          <a:prstGeom prst="rect">
            <a:avLst/>
          </a:prstGeom>
          <a:noFill/>
          <a:ln/>
        </p:spPr>
        <p:txBody>
          <a:bodyPr wrap="square" lIns="0" tIns="0" rIns="0" bIns="0" rtlCol="0" anchor="ctr"/>
          <a:lstStyle/>
          <a:p>
            <a:pPr algn="l" indent="0" marL="0">
              <a:buNone/>
            </a:pPr>
            <a:r>
              <a:rPr lang="en-US" sz="1400" dirty="0">
                <a:solidFill>
                  <a:schemeClr val="tx1"/>
                </a:solidFill>
              </a:rPr>
              <a:t>Clearance value is counted separately and included in the ₹20,485</a:t>
            </a:r>
            <a:endParaRPr lang="en-US" sz="1400" dirty="0"/>
          </a:p>
        </p:txBody>
      </p:sp>
      <p:sp>
        <p:nvSpPr>
          <p:cNvPr id="20" name="Chip"/>
          <p:cNvSpPr/>
          <p:nvPr/>
        </p:nvSpPr>
        <p:spPr>
          <a:xfrm>
            <a:off x="8127797" y="5192563"/>
            <a:ext cx="3606698" cy="1116797"/>
          </a:xfrm>
          <a:prstGeom prst="roundRect">
            <a:avLst>
              <a:gd name="adj" fmla="val 6550"/>
            </a:avLst>
          </a:prstGeom>
          <a:solidFill>
            <a:schemeClr val="bg2"/>
          </a:solidFill>
          <a:ln w="3175">
            <a:solidFill>
              <a:schemeClr val="bg2"/>
            </a:solidFill>
            <a:prstDash val="solid"/>
          </a:ln>
        </p:spPr>
      </p:sp>
      <p:sp>
        <p:nvSpPr>
          <p:cNvPr id="21" name="Shape 15"/>
          <p:cNvSpPr/>
          <p:nvPr/>
        </p:nvSpPr>
        <p:spPr>
          <a:xfrm>
            <a:off x="8292389" y="5549794"/>
            <a:ext cx="402336" cy="402336"/>
          </a:xfrm>
          <a:prstGeom prst="ellipse">
            <a:avLst/>
          </a:prstGeom>
          <a:solidFill>
            <a:schemeClr val="accent3"/>
          </a:solidFill>
          <a:ln w="3175">
            <a:solidFill>
              <a:schemeClr val="accent3"/>
            </a:solidFill>
            <a:prstDash val="solid"/>
          </a:ln>
        </p:spPr>
      </p:sp>
      <p:pic>
        <p:nvPicPr>
          <p:cNvPr id="22" name="Image 3" descr="preencoded.png">    </p:cNvPr>
          <p:cNvPicPr>
            <a:picLocks noChangeAspect="1"/>
          </p:cNvPicPr>
          <p:nvPr/>
        </p:nvPicPr>
        <p:blipFill>
          <a:blip r:embed="rId4"/>
          <a:stretch>
            <a:fillRect/>
          </a:stretch>
        </p:blipFill>
        <p:spPr>
          <a:xfrm>
            <a:off x="8396996" y="5654401"/>
            <a:ext cx="193121" cy="193121"/>
          </a:xfrm>
          <a:prstGeom prst="rect">
            <a:avLst/>
          </a:prstGeom>
        </p:spPr>
      </p:pic>
      <p:sp>
        <p:nvSpPr>
          <p:cNvPr id="23" name="Text 16"/>
          <p:cNvSpPr txBox="1"/>
          <p:nvPr/>
        </p:nvSpPr>
        <p:spPr>
          <a:xfrm>
            <a:off x="8831885" y="5265715"/>
            <a:ext cx="2765450" cy="970493"/>
          </a:xfrm>
          <a:prstGeom prst="rect">
            <a:avLst/>
          </a:prstGeom>
          <a:noFill/>
          <a:ln/>
        </p:spPr>
        <p:txBody>
          <a:bodyPr wrap="square" lIns="0" tIns="0" rIns="0" bIns="0" rtlCol="0" anchor="ctr"/>
          <a:lstStyle/>
          <a:p>
            <a:pPr algn="l" indent="0" marL="0">
              <a:buNone/>
            </a:pPr>
            <a:r>
              <a:rPr lang="en-US" sz="1400" dirty="0">
                <a:solidFill>
                  <a:schemeClr val="tx1"/>
                </a:solidFill>
              </a:rPr>
              <a:t>Festive run-up: some buyers would pay full price anyway</a:t>
            </a:r>
            <a:endParaRPr lang="en-US" sz="1400" dirty="0"/>
          </a:p>
        </p:txBody>
      </p:sp>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400" b="1" dirty="0">
                <a:solidFill>
                  <a:schemeClr val="tx1"/>
                </a:solidFill>
              </a:rPr>
              <a:t>Inventory is judged city by city</a:t>
            </a:r>
            <a:endParaRPr lang="en-US" sz="3400" dirty="0"/>
          </a:p>
        </p:txBody>
      </p:sp>
      <p:sp>
        <p:nvSpPr>
          <p:cNvPr id="3" name="Text 0"/>
          <p:cNvSpPr/>
          <p:nvPr>
            <p:ph idx="101" type="body" hasCustomPrompt="1"/>
          </p:nvPr>
        </p:nvSpPr>
        <p:spPr>
          <a:xfrm>
            <a:off x="457200" y="960120"/>
            <a:ext cx="11277295" cy="384048"/>
          </a:xfrm>
          <a:prstGeom prst="rect">
            <a:avLst/>
          </a:prstGeom>
          <a:noFill/>
          <a:ln/>
        </p:spPr>
        <p:txBody>
          <a:bodyPr wrap="square" lIns="0" tIns="0" rIns="0" bIns="0" rtlCol="0" anchor="t"/>
          <a:lstStyle/>
          <a:p>
            <a:pPr algn="l" indent="0" marL="0">
              <a:buNone/>
            </a:pPr>
            <a:r>
              <a:rPr lang="en-US" sz="1600" dirty="0">
                <a:solidFill>
                  <a:schemeClr val="tx2"/>
                </a:solidFill>
              </a:rPr>
              <a:t>Stock per product and city, with safety stock, days of cover and what the plan will use</a:t>
            </a:r>
            <a:endParaRPr lang="en-US" sz="1600" dirty="0"/>
          </a:p>
        </p:txBody>
      </p:sp>
      <p:sp>
        <p:nvSpPr>
          <p:cNvPr id="5" name="Frame: inventory7"/>
          <p:cNvSpPr/>
          <p:nvPr/>
        </p:nvSpPr>
        <p:spPr>
          <a:xfrm>
            <a:off x="457200" y="1508760"/>
            <a:ext cx="7745060" cy="4846320"/>
          </a:xfrm>
          <a:prstGeom prst="rect">
            <a:avLst/>
          </a:prstGeom>
          <a:solidFill>
            <a:schemeClr val="bg1"/>
          </a:solidFill>
          <a:ln w="9525">
            <a:solidFill>
              <a:schemeClr val="bg2"/>
            </a:solidFill>
            <a:prstDash val="solid"/>
          </a:ln>
          <a:effectLst>
            <a:outerShdw sx="100000" sy="100000" kx="0" ky="0" algn="bl" rotWithShape="0" blurRad="114300" dist="38100" dir="5400000">
              <a:srgbClr val="0F172A">
                <a:alpha val="16000"/>
              </a:srgbClr>
            </a:outerShdw>
          </a:effectLst>
        </p:spPr>
      </p:sp>
      <p:sp>
        <p:nvSpPr>
          <p:cNvPr id="6" name="Window bar: inventory7"/>
          <p:cNvSpPr/>
          <p:nvPr/>
        </p:nvSpPr>
        <p:spPr>
          <a:xfrm>
            <a:off x="457200" y="1508760"/>
            <a:ext cx="7745060" cy="237744"/>
          </a:xfrm>
          <a:prstGeom prst="rect">
            <a:avLst/>
          </a:prstGeom>
          <a:solidFill>
            <a:schemeClr val="tx1"/>
          </a:solidFill>
          <a:ln w="6350">
            <a:solidFill>
              <a:schemeClr val="tx1"/>
            </a:solidFill>
            <a:prstDash val="solid"/>
          </a:ln>
        </p:spPr>
      </p:sp>
      <p:sp>
        <p:nvSpPr>
          <p:cNvPr id="7" name="Shape 4"/>
          <p:cNvSpPr/>
          <p:nvPr/>
        </p:nvSpPr>
        <p:spPr>
          <a:xfrm>
            <a:off x="566928" y="1591056"/>
            <a:ext cx="82296" cy="82296"/>
          </a:xfrm>
          <a:prstGeom prst="ellipse">
            <a:avLst/>
          </a:prstGeom>
          <a:solidFill>
            <a:schemeClr val="accent4"/>
          </a:solidFill>
          <a:ln w="3175">
            <a:solidFill>
              <a:schemeClr val="accent4"/>
            </a:solidFill>
            <a:prstDash val="solid"/>
          </a:ln>
        </p:spPr>
      </p:sp>
      <p:sp>
        <p:nvSpPr>
          <p:cNvPr id="8" name="Shape 5"/>
          <p:cNvSpPr/>
          <p:nvPr/>
        </p:nvSpPr>
        <p:spPr>
          <a:xfrm>
            <a:off x="713232" y="1591056"/>
            <a:ext cx="82296" cy="82296"/>
          </a:xfrm>
          <a:prstGeom prst="ellipse">
            <a:avLst/>
          </a:prstGeom>
          <a:solidFill>
            <a:schemeClr val="accent3"/>
          </a:solidFill>
          <a:ln w="3175">
            <a:solidFill>
              <a:schemeClr val="accent3"/>
            </a:solidFill>
            <a:prstDash val="solid"/>
          </a:ln>
        </p:spPr>
      </p:sp>
      <p:sp>
        <p:nvSpPr>
          <p:cNvPr id="9" name="Shape 6"/>
          <p:cNvSpPr/>
          <p:nvPr/>
        </p:nvSpPr>
        <p:spPr>
          <a:xfrm>
            <a:off x="859536" y="1591056"/>
            <a:ext cx="82296" cy="82296"/>
          </a:xfrm>
          <a:prstGeom prst="ellipse">
            <a:avLst/>
          </a:prstGeom>
          <a:solidFill>
            <a:schemeClr val="accent2"/>
          </a:solidFill>
          <a:ln w="3175">
            <a:solidFill>
              <a:schemeClr val="accent2"/>
            </a:solidFill>
            <a:prstDash val="solid"/>
          </a:ln>
        </p:spPr>
      </p:sp>
      <p:sp>
        <p:nvSpPr>
          <p:cNvPr id="10" name="URL: inventory7"/>
          <p:cNvSpPr txBox="1"/>
          <p:nvPr/>
        </p:nvSpPr>
        <p:spPr>
          <a:xfrm>
            <a:off x="1097280" y="1508760"/>
            <a:ext cx="6922100" cy="237744"/>
          </a:xfrm>
          <a:prstGeom prst="rect">
            <a:avLst/>
          </a:prstGeom>
          <a:noFill/>
          <a:ln/>
        </p:spPr>
        <p:txBody>
          <a:bodyPr wrap="square" lIns="0" tIns="0" rIns="0" bIns="0" rtlCol="0" anchor="ctr"/>
          <a:lstStyle/>
          <a:p>
            <a:pPr algn="l" indent="0" marL="0">
              <a:buNone/>
            </a:pPr>
            <a:r>
              <a:rPr lang="en-US" sz="1000" dirty="0">
                <a:solidFill>
                  <a:schemeClr val="bg2"/>
                </a:solidFill>
              </a:rPr>
              <a:t>localhost:3000/inventory</a:t>
            </a:r>
            <a:endParaRPr lang="en-US" sz="1000" dirty="0"/>
          </a:p>
        </p:txBody>
      </p:sp>
      <p:pic>
        <p:nvPicPr>
          <p:cNvPr id="11" name="Screenshot: inventory7" descr="Inventory page: stockout risk, low, overstock and healthy counts, then a table of stock, safety stock, safe units, predicted demand and days of cover per product and city">    </p:cNvPr>
          <p:cNvPicPr>
            <a:picLocks noChangeAspect="1"/>
          </p:cNvPicPr>
          <p:nvPr/>
        </p:nvPicPr>
        <p:blipFill>
          <a:blip r:embed="rId1"/>
          <a:stretch>
            <a:fillRect/>
          </a:stretch>
        </p:blipFill>
        <p:spPr>
          <a:xfrm>
            <a:off x="457200" y="1746504"/>
            <a:ext cx="7745060" cy="4608576"/>
          </a:xfrm>
          <a:prstGeom prst="rect">
            <a:avLst/>
          </a:prstGeom>
        </p:spPr>
      </p:pic>
      <p:sp>
        <p:nvSpPr>
          <p:cNvPr id="12" name="Tile: Stockout risk"/>
          <p:cNvSpPr/>
          <p:nvPr/>
        </p:nvSpPr>
        <p:spPr>
          <a:xfrm>
            <a:off x="8412480" y="1508760"/>
            <a:ext cx="3322015" cy="1463040"/>
          </a:xfrm>
          <a:prstGeom prst="roundRect">
            <a:avLst>
              <a:gd name="adj" fmla="val 5000"/>
            </a:avLst>
          </a:prstGeom>
          <a:solidFill>
            <a:schemeClr val="bg2"/>
          </a:solidFill>
          <a:ln w="3175">
            <a:solidFill>
              <a:schemeClr val="bg2"/>
            </a:solidFill>
            <a:prstDash val="solid"/>
          </a:ln>
        </p:spPr>
      </p:sp>
      <p:sp>
        <p:nvSpPr>
          <p:cNvPr id="13" name="Text 9"/>
          <p:cNvSpPr txBox="1"/>
          <p:nvPr/>
        </p:nvSpPr>
        <p:spPr>
          <a:xfrm>
            <a:off x="8595360" y="1508760"/>
            <a:ext cx="1005840" cy="1463040"/>
          </a:xfrm>
          <a:prstGeom prst="rect">
            <a:avLst/>
          </a:prstGeom>
          <a:noFill/>
          <a:ln/>
        </p:spPr>
        <p:txBody>
          <a:bodyPr wrap="square" lIns="0" tIns="0" rIns="0" bIns="0" rtlCol="0" anchor="ctr"/>
          <a:lstStyle/>
          <a:p>
            <a:pPr algn="l" indent="0" marL="0">
              <a:buNone/>
            </a:pPr>
            <a:r>
              <a:rPr lang="en-US" sz="3600" b="1" dirty="0">
                <a:solidFill>
                  <a:schemeClr val="accent4"/>
                </a:solidFill>
                <a:latin typeface="Calibri" pitchFamily="34" charset="0"/>
                <a:ea typeface="Calibri" pitchFamily="34" charset="-122"/>
                <a:cs typeface="Calibri" pitchFamily="34" charset="-120"/>
              </a:rPr>
              <a:t>5</a:t>
            </a:r>
            <a:endParaRPr lang="en-US" sz="3600" dirty="0"/>
          </a:p>
        </p:txBody>
      </p:sp>
      <p:sp>
        <p:nvSpPr>
          <p:cNvPr id="14" name="Text 10"/>
          <p:cNvSpPr txBox="1"/>
          <p:nvPr/>
        </p:nvSpPr>
        <p:spPr>
          <a:xfrm>
            <a:off x="9692640" y="1600200"/>
            <a:ext cx="1904695" cy="1280160"/>
          </a:xfrm>
          <a:prstGeom prst="rect">
            <a:avLst/>
          </a:prstGeom>
          <a:noFill/>
          <a:ln/>
        </p:spPr>
        <p:txBody>
          <a:bodyPr wrap="square" lIns="0" tIns="0" rIns="0" bIns="0" rtlCol="0" anchor="ctr"/>
          <a:lstStyle/>
          <a:p>
            <a:pPr algn="l" indent="0" marL="0">
              <a:buNone/>
            </a:pPr>
            <a:r>
              <a:rPr lang="en-US" sz="1600" b="1" dirty="0">
                <a:solidFill>
                  <a:schemeClr val="tx1"/>
                </a:solidFill>
              </a:rPr>
              <a:t>Stockout risk</a:t>
            </a:r>
            <a:endParaRPr lang="en-US" sz="1600" dirty="0"/>
          </a:p>
          <a:p>
            <a:pPr algn="l" indent="0" marL="0">
              <a:buNone/>
            </a:pPr>
            <a:r>
              <a:rPr lang="en-US" sz="1400" dirty="0">
                <a:solidFill>
                  <a:schemeClr val="tx2"/>
                </a:solidFill>
              </a:rPr>
              <a:t>Under 30 days of cover in a city</a:t>
            </a:r>
            <a:endParaRPr lang="en-US" sz="1600" dirty="0"/>
          </a:p>
        </p:txBody>
      </p:sp>
      <p:sp>
        <p:nvSpPr>
          <p:cNvPr id="15" name="Tile: Overstock"/>
          <p:cNvSpPr/>
          <p:nvPr/>
        </p:nvSpPr>
        <p:spPr>
          <a:xfrm>
            <a:off x="8412480" y="3200400"/>
            <a:ext cx="3322015" cy="1463040"/>
          </a:xfrm>
          <a:prstGeom prst="roundRect">
            <a:avLst>
              <a:gd name="adj" fmla="val 5000"/>
            </a:avLst>
          </a:prstGeom>
          <a:solidFill>
            <a:schemeClr val="bg2"/>
          </a:solidFill>
          <a:ln w="3175">
            <a:solidFill>
              <a:schemeClr val="bg2"/>
            </a:solidFill>
            <a:prstDash val="solid"/>
          </a:ln>
        </p:spPr>
      </p:sp>
      <p:sp>
        <p:nvSpPr>
          <p:cNvPr id="16" name="Text 12"/>
          <p:cNvSpPr txBox="1"/>
          <p:nvPr/>
        </p:nvSpPr>
        <p:spPr>
          <a:xfrm>
            <a:off x="8595360" y="3200400"/>
            <a:ext cx="1005840" cy="1463040"/>
          </a:xfrm>
          <a:prstGeom prst="rect">
            <a:avLst/>
          </a:prstGeom>
          <a:noFill/>
          <a:ln/>
        </p:spPr>
        <p:txBody>
          <a:bodyPr wrap="square" lIns="0" tIns="0" rIns="0" bIns="0" rtlCol="0" anchor="ctr"/>
          <a:lstStyle/>
          <a:p>
            <a:pPr algn="l" indent="0" marL="0">
              <a:buNone/>
            </a:pPr>
            <a:r>
              <a:rPr lang="en-US" sz="3600" b="1" dirty="0">
                <a:solidFill>
                  <a:schemeClr val="accent6"/>
                </a:solidFill>
                <a:latin typeface="Calibri" pitchFamily="34" charset="0"/>
                <a:ea typeface="Calibri" pitchFamily="34" charset="-122"/>
                <a:cs typeface="Calibri" pitchFamily="34" charset="-120"/>
              </a:rPr>
              <a:t>5</a:t>
            </a:r>
            <a:endParaRPr lang="en-US" sz="3600" dirty="0"/>
          </a:p>
        </p:txBody>
      </p:sp>
      <p:sp>
        <p:nvSpPr>
          <p:cNvPr id="17" name="Text 13"/>
          <p:cNvSpPr txBox="1"/>
          <p:nvPr/>
        </p:nvSpPr>
        <p:spPr>
          <a:xfrm>
            <a:off x="9692640" y="3291840"/>
            <a:ext cx="1904695" cy="1280160"/>
          </a:xfrm>
          <a:prstGeom prst="rect">
            <a:avLst/>
          </a:prstGeom>
          <a:noFill/>
          <a:ln/>
        </p:spPr>
        <p:txBody>
          <a:bodyPr wrap="square" lIns="0" tIns="0" rIns="0" bIns="0" rtlCol="0" anchor="ctr"/>
          <a:lstStyle/>
          <a:p>
            <a:pPr algn="l" indent="0" marL="0">
              <a:buNone/>
            </a:pPr>
            <a:r>
              <a:rPr lang="en-US" sz="1600" b="1" dirty="0">
                <a:solidFill>
                  <a:schemeClr val="tx1"/>
                </a:solidFill>
              </a:rPr>
              <a:t>Overstock</a:t>
            </a:r>
            <a:endParaRPr lang="en-US" sz="1600" dirty="0"/>
          </a:p>
          <a:p>
            <a:pPr algn="l" indent="0" marL="0">
              <a:buNone/>
            </a:pPr>
            <a:r>
              <a:rPr lang="en-US" sz="1400" dirty="0">
                <a:solidFill>
                  <a:schemeClr val="tx2"/>
                </a:solidFill>
              </a:rPr>
              <a:t>Over 100 days of cover: clearance candidates</a:t>
            </a:r>
            <a:endParaRPr lang="en-US" sz="1600" dirty="0"/>
          </a:p>
        </p:txBody>
      </p:sp>
      <p:sp>
        <p:nvSpPr>
          <p:cNvPr id="18" name="Tile: Positions"/>
          <p:cNvSpPr/>
          <p:nvPr/>
        </p:nvSpPr>
        <p:spPr>
          <a:xfrm>
            <a:off x="8412480" y="4892040"/>
            <a:ext cx="3322015" cy="1463040"/>
          </a:xfrm>
          <a:prstGeom prst="roundRect">
            <a:avLst>
              <a:gd name="adj" fmla="val 5000"/>
            </a:avLst>
          </a:prstGeom>
          <a:solidFill>
            <a:schemeClr val="bg2"/>
          </a:solidFill>
          <a:ln w="3175">
            <a:solidFill>
              <a:schemeClr val="bg2"/>
            </a:solidFill>
            <a:prstDash val="solid"/>
          </a:ln>
        </p:spPr>
      </p:sp>
      <p:sp>
        <p:nvSpPr>
          <p:cNvPr id="19" name="Text 15"/>
          <p:cNvSpPr txBox="1"/>
          <p:nvPr/>
        </p:nvSpPr>
        <p:spPr>
          <a:xfrm>
            <a:off x="8595360" y="4892040"/>
            <a:ext cx="1005840" cy="1463040"/>
          </a:xfrm>
          <a:prstGeom prst="rect">
            <a:avLst/>
          </a:prstGeom>
          <a:noFill/>
          <a:ln/>
        </p:spPr>
        <p:txBody>
          <a:bodyPr wrap="square" lIns="0" tIns="0" rIns="0" bIns="0" rtlCol="0" anchor="ctr"/>
          <a:lstStyle/>
          <a:p>
            <a:pPr algn="l" indent="0" marL="0">
              <a:buNone/>
            </a:pPr>
            <a:r>
              <a:rPr lang="en-US" sz="3600" b="1" dirty="0">
                <a:solidFill>
                  <a:schemeClr val="accent1"/>
                </a:solidFill>
                <a:latin typeface="Calibri" pitchFamily="34" charset="0"/>
                <a:ea typeface="Calibri" pitchFamily="34" charset="-122"/>
                <a:cs typeface="Calibri" pitchFamily="34" charset="-120"/>
              </a:rPr>
              <a:t>100</a:t>
            </a:r>
            <a:endParaRPr lang="en-US" sz="3600" dirty="0"/>
          </a:p>
        </p:txBody>
      </p:sp>
      <p:sp>
        <p:nvSpPr>
          <p:cNvPr id="20" name="Text 16"/>
          <p:cNvSpPr txBox="1"/>
          <p:nvPr/>
        </p:nvSpPr>
        <p:spPr>
          <a:xfrm>
            <a:off x="9692640" y="4983480"/>
            <a:ext cx="1904695" cy="1280160"/>
          </a:xfrm>
          <a:prstGeom prst="rect">
            <a:avLst/>
          </a:prstGeom>
          <a:noFill/>
          <a:ln/>
        </p:spPr>
        <p:txBody>
          <a:bodyPr wrap="square" lIns="0" tIns="0" rIns="0" bIns="0" rtlCol="0" anchor="ctr"/>
          <a:lstStyle/>
          <a:p>
            <a:pPr algn="l" indent="0" marL="0">
              <a:buNone/>
            </a:pPr>
            <a:r>
              <a:rPr lang="en-US" sz="1600" b="1" dirty="0">
                <a:solidFill>
                  <a:schemeClr val="tx1"/>
                </a:solidFill>
              </a:rPr>
              <a:t>Positions</a:t>
            </a:r>
            <a:endParaRPr lang="en-US" sz="1600" dirty="0"/>
          </a:p>
          <a:p>
            <a:pPr algn="l" indent="0" marL="0">
              <a:buNone/>
            </a:pPr>
            <a:r>
              <a:rPr lang="en-US" sz="1400" dirty="0">
                <a:solidFill>
                  <a:schemeClr val="tx2"/>
                </a:solidFill>
              </a:rPr>
              <a:t>20 products × 5 cities, each judged alone</a:t>
            </a:r>
            <a:endParaRPr lang="en-US" sz="1600" dirty="0"/>
          </a:p>
        </p:txBody>
      </p:sp>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400" b="1" dirty="0">
                <a:solidFill>
                  <a:schemeClr val="tx1"/>
                </a:solidFill>
              </a:rPr>
              <a:t>Segments: who responds to what</a:t>
            </a:r>
            <a:endParaRPr lang="en-US" sz="3400" dirty="0"/>
          </a:p>
        </p:txBody>
      </p:sp>
      <p:sp>
        <p:nvSpPr>
          <p:cNvPr id="3" name="Text 0"/>
          <p:cNvSpPr/>
          <p:nvPr>
            <p:ph idx="101" type="body" hasCustomPrompt="1"/>
          </p:nvPr>
        </p:nvSpPr>
        <p:spPr>
          <a:xfrm>
            <a:off x="457200" y="960120"/>
            <a:ext cx="11277295" cy="384048"/>
          </a:xfrm>
          <a:prstGeom prst="rect">
            <a:avLst/>
          </a:prstGeom>
          <a:noFill/>
          <a:ln/>
        </p:spPr>
        <p:txBody>
          <a:bodyPr wrap="square" lIns="0" tIns="0" rIns="0" bIns="0" rtlCol="0" anchor="t"/>
          <a:lstStyle/>
          <a:p>
            <a:pPr algn="l" indent="0" marL="0">
              <a:buNone/>
            </a:pPr>
            <a:r>
              <a:rPr lang="en-US" sz="1600" dirty="0">
                <a:solidFill>
                  <a:schemeClr val="tx2"/>
                </a:solidFill>
              </a:rPr>
              <a:t>Segment-level only: size, price sensitivity and what each segment wants. No individual customer data</a:t>
            </a:r>
            <a:endParaRPr lang="en-US" sz="1600" dirty="0"/>
          </a:p>
        </p:txBody>
      </p:sp>
      <p:sp>
        <p:nvSpPr>
          <p:cNvPr id="5" name="Frame: segments"/>
          <p:cNvSpPr/>
          <p:nvPr/>
        </p:nvSpPr>
        <p:spPr>
          <a:xfrm>
            <a:off x="457200" y="1508760"/>
            <a:ext cx="7863840" cy="4836205"/>
          </a:xfrm>
          <a:prstGeom prst="rect">
            <a:avLst/>
          </a:prstGeom>
          <a:solidFill>
            <a:schemeClr val="bg1"/>
          </a:solidFill>
          <a:ln w="9525">
            <a:solidFill>
              <a:schemeClr val="bg2"/>
            </a:solidFill>
            <a:prstDash val="solid"/>
          </a:ln>
          <a:effectLst>
            <a:outerShdw sx="100000" sy="100000" kx="0" ky="0" algn="bl" rotWithShape="0" blurRad="114300" dist="38100" dir="5400000">
              <a:srgbClr val="0F172A">
                <a:alpha val="16000"/>
              </a:srgbClr>
            </a:outerShdw>
          </a:effectLst>
        </p:spPr>
      </p:sp>
      <p:sp>
        <p:nvSpPr>
          <p:cNvPr id="6" name="Window bar: segments"/>
          <p:cNvSpPr/>
          <p:nvPr/>
        </p:nvSpPr>
        <p:spPr>
          <a:xfrm>
            <a:off x="457200" y="1508760"/>
            <a:ext cx="7863840" cy="237744"/>
          </a:xfrm>
          <a:prstGeom prst="rect">
            <a:avLst/>
          </a:prstGeom>
          <a:solidFill>
            <a:schemeClr val="tx1"/>
          </a:solidFill>
          <a:ln w="6350">
            <a:solidFill>
              <a:schemeClr val="tx1"/>
            </a:solidFill>
            <a:prstDash val="solid"/>
          </a:ln>
        </p:spPr>
      </p:sp>
      <p:sp>
        <p:nvSpPr>
          <p:cNvPr id="7" name="Shape 4"/>
          <p:cNvSpPr/>
          <p:nvPr/>
        </p:nvSpPr>
        <p:spPr>
          <a:xfrm>
            <a:off x="566928" y="1591056"/>
            <a:ext cx="82296" cy="82296"/>
          </a:xfrm>
          <a:prstGeom prst="ellipse">
            <a:avLst/>
          </a:prstGeom>
          <a:solidFill>
            <a:schemeClr val="accent4"/>
          </a:solidFill>
          <a:ln w="3175">
            <a:solidFill>
              <a:schemeClr val="accent4"/>
            </a:solidFill>
            <a:prstDash val="solid"/>
          </a:ln>
        </p:spPr>
      </p:sp>
      <p:sp>
        <p:nvSpPr>
          <p:cNvPr id="8" name="Shape 5"/>
          <p:cNvSpPr/>
          <p:nvPr/>
        </p:nvSpPr>
        <p:spPr>
          <a:xfrm>
            <a:off x="713232" y="1591056"/>
            <a:ext cx="82296" cy="82296"/>
          </a:xfrm>
          <a:prstGeom prst="ellipse">
            <a:avLst/>
          </a:prstGeom>
          <a:solidFill>
            <a:schemeClr val="accent3"/>
          </a:solidFill>
          <a:ln w="3175">
            <a:solidFill>
              <a:schemeClr val="accent3"/>
            </a:solidFill>
            <a:prstDash val="solid"/>
          </a:ln>
        </p:spPr>
      </p:sp>
      <p:sp>
        <p:nvSpPr>
          <p:cNvPr id="9" name="Shape 6"/>
          <p:cNvSpPr/>
          <p:nvPr/>
        </p:nvSpPr>
        <p:spPr>
          <a:xfrm>
            <a:off x="859536" y="1591056"/>
            <a:ext cx="82296" cy="82296"/>
          </a:xfrm>
          <a:prstGeom prst="ellipse">
            <a:avLst/>
          </a:prstGeom>
          <a:solidFill>
            <a:schemeClr val="accent2"/>
          </a:solidFill>
          <a:ln w="3175">
            <a:solidFill>
              <a:schemeClr val="accent2"/>
            </a:solidFill>
            <a:prstDash val="solid"/>
          </a:ln>
        </p:spPr>
      </p:sp>
      <p:sp>
        <p:nvSpPr>
          <p:cNvPr id="10" name="URL: segments"/>
          <p:cNvSpPr txBox="1"/>
          <p:nvPr/>
        </p:nvSpPr>
        <p:spPr>
          <a:xfrm>
            <a:off x="1097280" y="1508760"/>
            <a:ext cx="7040880" cy="237744"/>
          </a:xfrm>
          <a:prstGeom prst="rect">
            <a:avLst/>
          </a:prstGeom>
          <a:noFill/>
          <a:ln/>
        </p:spPr>
        <p:txBody>
          <a:bodyPr wrap="square" lIns="0" tIns="0" rIns="0" bIns="0" rtlCol="0" anchor="ctr"/>
          <a:lstStyle/>
          <a:p>
            <a:pPr algn="l" indent="0" marL="0">
              <a:buNone/>
            </a:pPr>
            <a:r>
              <a:rPr lang="en-US" sz="1000" dirty="0">
                <a:solidFill>
                  <a:schemeClr val="bg2"/>
                </a:solidFill>
              </a:rPr>
              <a:t>localhost:3000/customers</a:t>
            </a:r>
            <a:endParaRPr lang="en-US" sz="1000" dirty="0"/>
          </a:p>
        </p:txBody>
      </p:sp>
      <p:pic>
        <p:nvPicPr>
          <p:cNvPr id="11" name="Screenshot: segments" descr="Customer segments page: four segment cards with reachable customers and price sensitivity, and a heat map of affinity by category">    </p:cNvPr>
          <p:cNvPicPr>
            <a:picLocks noChangeAspect="1"/>
          </p:cNvPicPr>
          <p:nvPr/>
        </p:nvPicPr>
        <p:blipFill>
          <a:blip r:embed="rId1"/>
          <a:stretch>
            <a:fillRect/>
          </a:stretch>
        </p:blipFill>
        <p:spPr>
          <a:xfrm>
            <a:off x="457200" y="1746504"/>
            <a:ext cx="7863840" cy="4598461"/>
          </a:xfrm>
          <a:prstGeom prst="rect">
            <a:avLst/>
          </a:prstGeom>
        </p:spPr>
      </p:pic>
      <p:sp>
        <p:nvSpPr>
          <p:cNvPr id="12" name="Shape 8"/>
          <p:cNvSpPr/>
          <p:nvPr/>
        </p:nvSpPr>
        <p:spPr>
          <a:xfrm>
            <a:off x="8595360" y="1618488"/>
            <a:ext cx="329184" cy="329184"/>
          </a:xfrm>
          <a:prstGeom prst="ellipse">
            <a:avLst/>
          </a:prstGeom>
          <a:solidFill>
            <a:schemeClr val="accent1"/>
          </a:solidFill>
          <a:ln w="3175">
            <a:solidFill>
              <a:schemeClr val="accent1"/>
            </a:solidFill>
            <a:prstDash val="solid"/>
          </a:ln>
        </p:spPr>
      </p:sp>
      <p:sp>
        <p:nvSpPr>
          <p:cNvPr id="13" name="Text 9"/>
          <p:cNvSpPr txBox="1"/>
          <p:nvPr/>
        </p:nvSpPr>
        <p:spPr>
          <a:xfrm>
            <a:off x="8595360" y="161848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4" name="Text 10"/>
          <p:cNvSpPr txBox="1"/>
          <p:nvPr/>
        </p:nvSpPr>
        <p:spPr>
          <a:xfrm>
            <a:off x="9052560" y="1600200"/>
            <a:ext cx="2681935" cy="1463040"/>
          </a:xfrm>
          <a:prstGeom prst="rect">
            <a:avLst/>
          </a:prstGeom>
          <a:noFill/>
          <a:ln/>
        </p:spPr>
        <p:txBody>
          <a:bodyPr wrap="square" lIns="0" tIns="0" rIns="0" bIns="0" rtlCol="0" anchor="t"/>
          <a:lstStyle/>
          <a:p>
            <a:pPr algn="l" indent="0" marL="0">
              <a:spcAft>
                <a:spcPts val="400"/>
              </a:spcAft>
              <a:buNone/>
            </a:pPr>
            <a:r>
              <a:rPr lang="en-US" sz="1800" b="1" dirty="0">
                <a:solidFill>
                  <a:schemeClr val="tx1"/>
                </a:solidFill>
              </a:rPr>
              <a:t>Segment-level only</a:t>
            </a:r>
            <a:endParaRPr lang="en-US" sz="1800" dirty="0"/>
          </a:p>
          <a:p>
            <a:pPr algn="l" indent="0" marL="0">
              <a:buNone/>
            </a:pPr>
            <a:r>
              <a:rPr lang="en-US" sz="1400" dirty="0">
                <a:solidFill>
                  <a:schemeClr val="tx2"/>
                </a:solidFill>
              </a:rPr>
              <a:t>Size, price sensitivity, affinity and recent intent. No per-customer targeting.</a:t>
            </a:r>
            <a:endParaRPr lang="en-US" sz="1800" dirty="0"/>
          </a:p>
        </p:txBody>
      </p:sp>
      <p:sp>
        <p:nvSpPr>
          <p:cNvPr id="15" name="Shape 11"/>
          <p:cNvSpPr/>
          <p:nvPr/>
        </p:nvSpPr>
        <p:spPr>
          <a:xfrm>
            <a:off x="8595360" y="3227832"/>
            <a:ext cx="329184" cy="329184"/>
          </a:xfrm>
          <a:prstGeom prst="ellipse">
            <a:avLst/>
          </a:prstGeom>
          <a:solidFill>
            <a:schemeClr val="accent5"/>
          </a:solidFill>
          <a:ln w="3175">
            <a:solidFill>
              <a:schemeClr val="accent5"/>
            </a:solidFill>
            <a:prstDash val="solid"/>
          </a:ln>
        </p:spPr>
      </p:sp>
      <p:sp>
        <p:nvSpPr>
          <p:cNvPr id="16" name="Text 12"/>
          <p:cNvSpPr txBox="1"/>
          <p:nvPr/>
        </p:nvSpPr>
        <p:spPr>
          <a:xfrm>
            <a:off x="8595360" y="322783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7" name="Text 13"/>
          <p:cNvSpPr txBox="1"/>
          <p:nvPr/>
        </p:nvSpPr>
        <p:spPr>
          <a:xfrm>
            <a:off x="9052560" y="3209544"/>
            <a:ext cx="2681935" cy="1463040"/>
          </a:xfrm>
          <a:prstGeom prst="rect">
            <a:avLst/>
          </a:prstGeom>
          <a:noFill/>
          <a:ln/>
        </p:spPr>
        <p:txBody>
          <a:bodyPr wrap="square" lIns="0" tIns="0" rIns="0" bIns="0" rtlCol="0" anchor="t"/>
          <a:lstStyle/>
          <a:p>
            <a:pPr algn="l" indent="0" marL="0">
              <a:spcAft>
                <a:spcPts val="400"/>
              </a:spcAft>
              <a:buNone/>
            </a:pPr>
            <a:r>
              <a:rPr lang="en-US" sz="1800" b="1" dirty="0">
                <a:solidFill>
                  <a:schemeClr val="tx1"/>
                </a:solidFill>
              </a:rPr>
              <a:t>Price sensitivity</a:t>
            </a:r>
            <a:endParaRPr lang="en-US" sz="1800" dirty="0"/>
          </a:p>
          <a:p>
            <a:pPr algn="l" indent="0" marL="0">
              <a:buNone/>
            </a:pPr>
            <a:r>
              <a:rPr lang="en-US" sz="1400" dirty="0">
                <a:solidFill>
                  <a:schemeClr val="tx2"/>
                </a:solidFill>
              </a:rPr>
              <a:t>Students 85, Families 75, Professionals 50, Premium 25 (out of 100).</a:t>
            </a:r>
            <a:endParaRPr lang="en-US" sz="1800" dirty="0"/>
          </a:p>
        </p:txBody>
      </p:sp>
      <p:sp>
        <p:nvSpPr>
          <p:cNvPr id="18" name="Shape 14"/>
          <p:cNvSpPr/>
          <p:nvPr/>
        </p:nvSpPr>
        <p:spPr>
          <a:xfrm>
            <a:off x="8595360" y="4837176"/>
            <a:ext cx="329184" cy="329184"/>
          </a:xfrm>
          <a:prstGeom prst="ellipse">
            <a:avLst/>
          </a:prstGeom>
          <a:solidFill>
            <a:schemeClr val="accent2"/>
          </a:solidFill>
          <a:ln w="3175">
            <a:solidFill>
              <a:schemeClr val="accent2"/>
            </a:solidFill>
            <a:prstDash val="solid"/>
          </a:ln>
        </p:spPr>
      </p:sp>
      <p:sp>
        <p:nvSpPr>
          <p:cNvPr id="19" name="Text 15"/>
          <p:cNvSpPr txBox="1"/>
          <p:nvPr/>
        </p:nvSpPr>
        <p:spPr>
          <a:xfrm>
            <a:off x="8595360" y="4837176"/>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Text 16"/>
          <p:cNvSpPr txBox="1"/>
          <p:nvPr/>
        </p:nvSpPr>
        <p:spPr>
          <a:xfrm>
            <a:off x="9052560" y="4818888"/>
            <a:ext cx="2681935" cy="1463040"/>
          </a:xfrm>
          <a:prstGeom prst="rect">
            <a:avLst/>
          </a:prstGeom>
          <a:noFill/>
          <a:ln/>
        </p:spPr>
        <p:txBody>
          <a:bodyPr wrap="square" lIns="0" tIns="0" rIns="0" bIns="0" rtlCol="0" anchor="t"/>
          <a:lstStyle/>
          <a:p>
            <a:pPr algn="l" indent="0" marL="0">
              <a:spcAft>
                <a:spcPts val="400"/>
              </a:spcAft>
              <a:buNone/>
            </a:pPr>
            <a:r>
              <a:rPr lang="en-US" sz="1800" b="1" dirty="0">
                <a:solidFill>
                  <a:schemeClr val="tx1"/>
                </a:solidFill>
              </a:rPr>
              <a:t>Feeds the response model</a:t>
            </a:r>
            <a:endParaRPr lang="en-US" sz="1800" dirty="0"/>
          </a:p>
          <a:p>
            <a:pPr algn="l" indent="0" marL="0">
              <a:buNone/>
            </a:pPr>
            <a:r>
              <a:rPr lang="en-US" sz="1400" dirty="0">
                <a:solidFill>
                  <a:schemeClr val="tx2"/>
                </a:solidFill>
              </a:rPr>
              <a:t>Affinity and recent intent per category set how strongly a segment reacts.</a:t>
            </a:r>
            <a:endParaRPr lang="en-US" sz="1800" dirty="0"/>
          </a:p>
        </p:txBody>
      </p:sp>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400" b="1" dirty="0">
                <a:solidFill>
                  <a:schemeClr val="tx1"/>
                </a:solidFill>
              </a:rPr>
              <a:t>What-if simulator: test before you ship</a:t>
            </a:r>
            <a:endParaRPr lang="en-US" sz="3400" dirty="0"/>
          </a:p>
        </p:txBody>
      </p:sp>
      <p:sp>
        <p:nvSpPr>
          <p:cNvPr id="3" name="Text 0"/>
          <p:cNvSpPr/>
          <p:nvPr>
            <p:ph idx="101" type="body" hasCustomPrompt="1"/>
          </p:nvPr>
        </p:nvSpPr>
        <p:spPr>
          <a:xfrm>
            <a:off x="457200" y="960120"/>
            <a:ext cx="11277295" cy="384048"/>
          </a:xfrm>
          <a:prstGeom prst="rect">
            <a:avLst/>
          </a:prstGeom>
          <a:noFill/>
          <a:ln/>
        </p:spPr>
        <p:txBody>
          <a:bodyPr wrap="square" lIns="0" tIns="0" rIns="0" bIns="0" rtlCol="0" anchor="t"/>
          <a:lstStyle/>
          <a:p>
            <a:pPr algn="l" indent="0" marL="0">
              <a:buNone/>
            </a:pPr>
            <a:r>
              <a:rPr lang="en-US" sz="1600" dirty="0">
                <a:solidFill>
                  <a:schemeClr val="tx2"/>
                </a:solidFill>
              </a:rPr>
              <a:t>Pick a product, segment and city, then move the discount and watch profit, stock and risk change</a:t>
            </a:r>
            <a:endParaRPr lang="en-US" sz="1600" dirty="0"/>
          </a:p>
        </p:txBody>
      </p:sp>
      <p:sp>
        <p:nvSpPr>
          <p:cNvPr id="5" name="Frame: sim_scenario"/>
          <p:cNvSpPr/>
          <p:nvPr/>
        </p:nvSpPr>
        <p:spPr>
          <a:xfrm>
            <a:off x="457200" y="1508760"/>
            <a:ext cx="7680960" cy="1704594"/>
          </a:xfrm>
          <a:prstGeom prst="rect">
            <a:avLst/>
          </a:prstGeom>
          <a:solidFill>
            <a:schemeClr val="bg1"/>
          </a:solidFill>
          <a:ln w="9525">
            <a:solidFill>
              <a:schemeClr val="bg2"/>
            </a:solidFill>
            <a:prstDash val="solid"/>
          </a:ln>
          <a:effectLst>
            <a:outerShdw sx="100000" sy="100000" kx="0" ky="0" algn="bl" rotWithShape="0" blurRad="114300" dist="38100" dir="5400000">
              <a:srgbClr val="0F172A">
                <a:alpha val="16000"/>
              </a:srgbClr>
            </a:outerShdw>
          </a:effectLst>
        </p:spPr>
      </p:sp>
      <p:sp>
        <p:nvSpPr>
          <p:cNvPr id="6" name="Window bar: sim_scenario"/>
          <p:cNvSpPr/>
          <p:nvPr/>
        </p:nvSpPr>
        <p:spPr>
          <a:xfrm>
            <a:off x="457200" y="1508760"/>
            <a:ext cx="7680960" cy="237744"/>
          </a:xfrm>
          <a:prstGeom prst="rect">
            <a:avLst/>
          </a:prstGeom>
          <a:solidFill>
            <a:schemeClr val="tx1"/>
          </a:solidFill>
          <a:ln w="6350">
            <a:solidFill>
              <a:schemeClr val="tx1"/>
            </a:solidFill>
            <a:prstDash val="solid"/>
          </a:ln>
        </p:spPr>
      </p:sp>
      <p:sp>
        <p:nvSpPr>
          <p:cNvPr id="7" name="Shape 4"/>
          <p:cNvSpPr/>
          <p:nvPr/>
        </p:nvSpPr>
        <p:spPr>
          <a:xfrm>
            <a:off x="566928" y="1591056"/>
            <a:ext cx="82296" cy="82296"/>
          </a:xfrm>
          <a:prstGeom prst="ellipse">
            <a:avLst/>
          </a:prstGeom>
          <a:solidFill>
            <a:schemeClr val="accent4"/>
          </a:solidFill>
          <a:ln w="3175">
            <a:solidFill>
              <a:schemeClr val="accent4"/>
            </a:solidFill>
            <a:prstDash val="solid"/>
          </a:ln>
        </p:spPr>
      </p:sp>
      <p:sp>
        <p:nvSpPr>
          <p:cNvPr id="8" name="Shape 5"/>
          <p:cNvSpPr/>
          <p:nvPr/>
        </p:nvSpPr>
        <p:spPr>
          <a:xfrm>
            <a:off x="713232" y="1591056"/>
            <a:ext cx="82296" cy="82296"/>
          </a:xfrm>
          <a:prstGeom prst="ellipse">
            <a:avLst/>
          </a:prstGeom>
          <a:solidFill>
            <a:schemeClr val="accent3"/>
          </a:solidFill>
          <a:ln w="3175">
            <a:solidFill>
              <a:schemeClr val="accent3"/>
            </a:solidFill>
            <a:prstDash val="solid"/>
          </a:ln>
        </p:spPr>
      </p:sp>
      <p:sp>
        <p:nvSpPr>
          <p:cNvPr id="9" name="Shape 6"/>
          <p:cNvSpPr/>
          <p:nvPr/>
        </p:nvSpPr>
        <p:spPr>
          <a:xfrm>
            <a:off x="859536" y="1591056"/>
            <a:ext cx="82296" cy="82296"/>
          </a:xfrm>
          <a:prstGeom prst="ellipse">
            <a:avLst/>
          </a:prstGeom>
          <a:solidFill>
            <a:schemeClr val="accent2"/>
          </a:solidFill>
          <a:ln w="3175">
            <a:solidFill>
              <a:schemeClr val="accent2"/>
            </a:solidFill>
            <a:prstDash val="solid"/>
          </a:ln>
        </p:spPr>
      </p:sp>
      <p:sp>
        <p:nvSpPr>
          <p:cNvPr id="10" name="URL: sim_scenario"/>
          <p:cNvSpPr txBox="1"/>
          <p:nvPr/>
        </p:nvSpPr>
        <p:spPr>
          <a:xfrm>
            <a:off x="1097280" y="1508760"/>
            <a:ext cx="6858000" cy="237744"/>
          </a:xfrm>
          <a:prstGeom prst="rect">
            <a:avLst/>
          </a:prstGeom>
          <a:noFill/>
          <a:ln/>
        </p:spPr>
        <p:txBody>
          <a:bodyPr wrap="square" lIns="0" tIns="0" rIns="0" bIns="0" rtlCol="0" anchor="ctr"/>
          <a:lstStyle/>
          <a:p>
            <a:pPr algn="l" indent="0" marL="0">
              <a:buNone/>
            </a:pPr>
            <a:r>
              <a:rPr lang="en-US" sz="1000" dirty="0">
                <a:solidFill>
                  <a:schemeClr val="bg2"/>
                </a:solidFill>
              </a:rPr>
              <a:t>localhost:3000/simulator</a:t>
            </a:r>
            <a:endParaRPr lang="en-US" sz="1000" dirty="0"/>
          </a:p>
        </p:txBody>
      </p:sp>
      <p:pic>
        <p:nvPicPr>
          <p:cNvPr id="11" name="Screenshot: sim_scenario" descr="Simulator scenario card: product, segment and city selectors and a discount slider limited to the legal band">    </p:cNvPr>
          <p:cNvPicPr>
            <a:picLocks noChangeAspect="1"/>
          </p:cNvPicPr>
          <p:nvPr/>
        </p:nvPicPr>
        <p:blipFill>
          <a:blip r:embed="rId1"/>
          <a:stretch>
            <a:fillRect/>
          </a:stretch>
        </p:blipFill>
        <p:spPr>
          <a:xfrm>
            <a:off x="457200" y="1746504"/>
            <a:ext cx="7680960" cy="1466850"/>
          </a:xfrm>
          <a:prstGeom prst="rect">
            <a:avLst/>
          </a:prstGeom>
        </p:spPr>
      </p:pic>
      <p:sp>
        <p:nvSpPr>
          <p:cNvPr id="12" name="Frame: sim_curve_scenarios"/>
          <p:cNvSpPr/>
          <p:nvPr/>
        </p:nvSpPr>
        <p:spPr>
          <a:xfrm>
            <a:off x="457200" y="3350514"/>
            <a:ext cx="7680960" cy="2889536"/>
          </a:xfrm>
          <a:prstGeom prst="rect">
            <a:avLst/>
          </a:prstGeom>
          <a:solidFill>
            <a:schemeClr val="bg1"/>
          </a:solidFill>
          <a:ln w="9525">
            <a:solidFill>
              <a:schemeClr val="bg2"/>
            </a:solidFill>
            <a:prstDash val="solid"/>
          </a:ln>
          <a:effectLst>
            <a:outerShdw sx="100000" sy="100000" kx="0" ky="0" algn="bl" rotWithShape="0" blurRad="114300" dist="38100" dir="5400000">
              <a:srgbClr val="0F172A">
                <a:alpha val="16000"/>
              </a:srgbClr>
            </a:outerShdw>
          </a:effectLst>
        </p:spPr>
      </p:sp>
      <p:pic>
        <p:nvPicPr>
          <p:cNvPr id="13" name="Screenshot: sim_curve_scenarios" descr="Profit versus discount curve and a table of three scenarios: engine's pick at 5 percent, moderate at 15 percent, aggressive at 40 percent">    </p:cNvPr>
          <p:cNvPicPr>
            <a:picLocks noChangeAspect="1"/>
          </p:cNvPicPr>
          <p:nvPr/>
        </p:nvPicPr>
        <p:blipFill>
          <a:blip r:embed="rId2"/>
          <a:stretch>
            <a:fillRect/>
          </a:stretch>
        </p:blipFill>
        <p:spPr>
          <a:xfrm>
            <a:off x="457200" y="3350514"/>
            <a:ext cx="7680960" cy="2889536"/>
          </a:xfrm>
          <a:prstGeom prst="rect">
            <a:avLst/>
          </a:prstGeom>
        </p:spPr>
      </p:pic>
      <p:sp>
        <p:nvSpPr>
          <p:cNvPr id="14" name="Shape 9"/>
          <p:cNvSpPr/>
          <p:nvPr/>
        </p:nvSpPr>
        <p:spPr>
          <a:xfrm>
            <a:off x="8412480" y="1618488"/>
            <a:ext cx="329184" cy="329184"/>
          </a:xfrm>
          <a:prstGeom prst="ellipse">
            <a:avLst/>
          </a:prstGeom>
          <a:solidFill>
            <a:schemeClr val="accent1"/>
          </a:solidFill>
          <a:ln w="3175">
            <a:solidFill>
              <a:schemeClr val="accent1"/>
            </a:solidFill>
            <a:prstDash val="solid"/>
          </a:ln>
        </p:spPr>
      </p:sp>
      <p:sp>
        <p:nvSpPr>
          <p:cNvPr id="15" name="Text 10"/>
          <p:cNvSpPr txBox="1"/>
          <p:nvPr/>
        </p:nvSpPr>
        <p:spPr>
          <a:xfrm>
            <a:off x="8412480" y="161848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1"/>
          <p:cNvSpPr txBox="1"/>
          <p:nvPr/>
        </p:nvSpPr>
        <p:spPr>
          <a:xfrm>
            <a:off x="8869680" y="1600200"/>
            <a:ext cx="2864815" cy="1463040"/>
          </a:xfrm>
          <a:prstGeom prst="rect">
            <a:avLst/>
          </a:prstGeom>
          <a:noFill/>
          <a:ln/>
        </p:spPr>
        <p:txBody>
          <a:bodyPr wrap="square" lIns="0" tIns="0" rIns="0" bIns="0" rtlCol="0" anchor="t"/>
          <a:lstStyle/>
          <a:p>
            <a:pPr algn="l" indent="0" marL="0">
              <a:spcAft>
                <a:spcPts val="400"/>
              </a:spcAft>
              <a:buNone/>
            </a:pPr>
            <a:r>
              <a:rPr lang="en-US" sz="1800" b="1" dirty="0">
                <a:solidFill>
                  <a:schemeClr val="tx1"/>
                </a:solidFill>
              </a:rPr>
              <a:t>Stay inside the rules</a:t>
            </a:r>
            <a:endParaRPr lang="en-US" sz="1800" dirty="0"/>
          </a:p>
          <a:p>
            <a:pPr algn="l" indent="0" marL="0">
              <a:buNone/>
            </a:pPr>
            <a:r>
              <a:rPr lang="en-US" sz="1400" dirty="0">
                <a:solidFill>
                  <a:schemeClr val="tx2"/>
                </a:solidFill>
              </a:rPr>
              <a:t>The slider stops at the deepest legal discount; beyond it is locked.</a:t>
            </a:r>
            <a:endParaRPr lang="en-US" sz="1800" dirty="0"/>
          </a:p>
        </p:txBody>
      </p:sp>
      <p:sp>
        <p:nvSpPr>
          <p:cNvPr id="17" name="Shape 12"/>
          <p:cNvSpPr/>
          <p:nvPr/>
        </p:nvSpPr>
        <p:spPr>
          <a:xfrm>
            <a:off x="8412480" y="3227832"/>
            <a:ext cx="329184" cy="329184"/>
          </a:xfrm>
          <a:prstGeom prst="ellipse">
            <a:avLst/>
          </a:prstGeom>
          <a:solidFill>
            <a:schemeClr val="accent2"/>
          </a:solidFill>
          <a:ln w="3175">
            <a:solidFill>
              <a:schemeClr val="accent2"/>
            </a:solidFill>
            <a:prstDash val="solid"/>
          </a:ln>
        </p:spPr>
      </p:sp>
      <p:sp>
        <p:nvSpPr>
          <p:cNvPr id="18" name="Text 13"/>
          <p:cNvSpPr txBox="1"/>
          <p:nvPr/>
        </p:nvSpPr>
        <p:spPr>
          <a:xfrm>
            <a:off x="8412480" y="322783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9" name="Text 14"/>
          <p:cNvSpPr txBox="1"/>
          <p:nvPr/>
        </p:nvSpPr>
        <p:spPr>
          <a:xfrm>
            <a:off x="8869680" y="3209544"/>
            <a:ext cx="2864815" cy="1463040"/>
          </a:xfrm>
          <a:prstGeom prst="rect">
            <a:avLst/>
          </a:prstGeom>
          <a:noFill/>
          <a:ln/>
        </p:spPr>
        <p:txBody>
          <a:bodyPr wrap="square" lIns="0" tIns="0" rIns="0" bIns="0" rtlCol="0" anchor="t"/>
          <a:lstStyle/>
          <a:p>
            <a:pPr algn="l" indent="0" marL="0">
              <a:spcAft>
                <a:spcPts val="400"/>
              </a:spcAft>
              <a:buNone/>
            </a:pPr>
            <a:r>
              <a:rPr lang="en-US" sz="1800" b="1" dirty="0">
                <a:solidFill>
                  <a:schemeClr val="tx1"/>
                </a:solidFill>
              </a:rPr>
              <a:t>Same engine as the plan</a:t>
            </a:r>
            <a:endParaRPr lang="en-US" sz="1800" dirty="0"/>
          </a:p>
          <a:p>
            <a:pPr algn="l" indent="0" marL="0">
              <a:buNone/>
            </a:pPr>
            <a:r>
              <a:rPr lang="en-US" sz="1400" dirty="0">
                <a:solidFill>
                  <a:schemeClr val="tx2"/>
                </a:solidFill>
              </a:rPr>
              <a:t>A standalone view of one promotion, so the plan's pick can differ.</a:t>
            </a:r>
            <a:endParaRPr lang="en-US" sz="1800" dirty="0"/>
          </a:p>
        </p:txBody>
      </p:sp>
      <p:sp>
        <p:nvSpPr>
          <p:cNvPr id="20" name="Shape 15"/>
          <p:cNvSpPr/>
          <p:nvPr/>
        </p:nvSpPr>
        <p:spPr>
          <a:xfrm>
            <a:off x="8412480" y="4837176"/>
            <a:ext cx="329184" cy="329184"/>
          </a:xfrm>
          <a:prstGeom prst="ellipse">
            <a:avLst/>
          </a:prstGeom>
          <a:solidFill>
            <a:schemeClr val="accent4"/>
          </a:solidFill>
          <a:ln w="3175">
            <a:solidFill>
              <a:schemeClr val="accent4"/>
            </a:solidFill>
            <a:prstDash val="solid"/>
          </a:ln>
        </p:spPr>
      </p:sp>
      <p:sp>
        <p:nvSpPr>
          <p:cNvPr id="21" name="Text 16"/>
          <p:cNvSpPr txBox="1"/>
          <p:nvPr/>
        </p:nvSpPr>
        <p:spPr>
          <a:xfrm>
            <a:off x="8412480" y="4837176"/>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2" name="Text 17"/>
          <p:cNvSpPr txBox="1"/>
          <p:nvPr/>
        </p:nvSpPr>
        <p:spPr>
          <a:xfrm>
            <a:off x="8869680" y="4818888"/>
            <a:ext cx="2864815" cy="1463040"/>
          </a:xfrm>
          <a:prstGeom prst="rect">
            <a:avLst/>
          </a:prstGeom>
          <a:noFill/>
          <a:ln/>
        </p:spPr>
        <p:txBody>
          <a:bodyPr wrap="square" lIns="0" tIns="0" rIns="0" bIns="0" rtlCol="0" anchor="t"/>
          <a:lstStyle/>
          <a:p>
            <a:pPr algn="l" indent="0" marL="0">
              <a:spcAft>
                <a:spcPts val="400"/>
              </a:spcAft>
              <a:buNone/>
            </a:pPr>
            <a:r>
              <a:rPr lang="en-US" sz="1800" b="1" dirty="0">
                <a:solidFill>
                  <a:schemeClr val="tx1"/>
                </a:solidFill>
              </a:rPr>
              <a:t>See the downside</a:t>
            </a:r>
            <a:endParaRPr lang="en-US" sz="1800" dirty="0"/>
          </a:p>
          <a:p>
            <a:pPr algn="l" indent="0" marL="0">
              <a:buNone/>
            </a:pPr>
            <a:r>
              <a:rPr lang="en-US" sz="1400" dirty="0">
                <a:solidFill>
                  <a:schemeClr val="tx2"/>
                </a:solidFill>
              </a:rPr>
              <a:t>At 40% off this promotion loses ₹3,149. The engine's 5% earns ₹3,123.</a:t>
            </a:r>
            <a:endParaRPr lang="en-US" sz="1800" dirty="0"/>
          </a:p>
        </p:txBody>
      </p:sp>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400" b="1" dirty="0">
                <a:solidFill>
                  <a:schemeClr val="tx1"/>
                </a:solidFill>
              </a:rPr>
              <a:t>Hard rules the engine never breaks</a:t>
            </a:r>
            <a:endParaRPr lang="en-US" sz="3400" dirty="0"/>
          </a:p>
        </p:txBody>
      </p:sp>
      <p:sp>
        <p:nvSpPr>
          <p:cNvPr id="3" name="Text 0"/>
          <p:cNvSpPr/>
          <p:nvPr>
            <p:ph idx="101" type="body" hasCustomPrompt="1"/>
          </p:nvPr>
        </p:nvSpPr>
        <p:spPr>
          <a:xfrm>
            <a:off x="457200" y="960120"/>
            <a:ext cx="11277295" cy="384048"/>
          </a:xfrm>
          <a:prstGeom prst="rect">
            <a:avLst/>
          </a:prstGeom>
          <a:noFill/>
          <a:ln/>
        </p:spPr>
        <p:txBody>
          <a:bodyPr wrap="square" lIns="0" tIns="0" rIns="0" bIns="0" rtlCol="0" anchor="t"/>
          <a:lstStyle/>
          <a:p>
            <a:pPr algn="l" indent="0" marL="0">
              <a:buNone/>
            </a:pPr>
            <a:r>
              <a:rPr lang="en-US" sz="1600" dirty="0">
                <a:solidFill>
                  <a:schemeClr val="tx2"/>
                </a:solidFill>
              </a:rPr>
              <a:t>Margin floor, safety stock, cost per contact and marketing budget are editable on the dashboard</a:t>
            </a:r>
            <a:endParaRPr lang="en-US" sz="1600" dirty="0"/>
          </a:p>
        </p:txBody>
      </p:sp>
      <p:sp>
        <p:nvSpPr>
          <p:cNvPr id="5" name="Rule: Price band"/>
          <p:cNvSpPr/>
          <p:nvPr/>
        </p:nvSpPr>
        <p:spPr>
          <a:xfrm>
            <a:off x="457200" y="1600200"/>
            <a:ext cx="2072579" cy="2514600"/>
          </a:xfrm>
          <a:prstGeom prst="roundRect">
            <a:avLst>
              <a:gd name="adj" fmla="val 4412"/>
            </a:avLst>
          </a:prstGeom>
          <a:solidFill>
            <a:schemeClr val="bg2"/>
          </a:solidFill>
          <a:ln w="3175">
            <a:solidFill>
              <a:schemeClr val="bg2"/>
            </a:solidFill>
            <a:prstDash val="solid"/>
          </a:ln>
        </p:spPr>
      </p:sp>
      <p:sp>
        <p:nvSpPr>
          <p:cNvPr id="6" name="Shape 3"/>
          <p:cNvSpPr/>
          <p:nvPr/>
        </p:nvSpPr>
        <p:spPr>
          <a:xfrm>
            <a:off x="685800" y="1828800"/>
            <a:ext cx="566928" cy="566928"/>
          </a:xfrm>
          <a:prstGeom prst="ellipse">
            <a:avLst/>
          </a:prstGeom>
          <a:solidFill>
            <a:schemeClr val="accent1"/>
          </a:solidFill>
          <a:ln w="3175">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833201" y="1976201"/>
            <a:ext cx="272125" cy="272125"/>
          </a:xfrm>
          <a:prstGeom prst="rect">
            <a:avLst/>
          </a:prstGeom>
        </p:spPr>
      </p:pic>
      <p:sp>
        <p:nvSpPr>
          <p:cNvPr id="8" name="Text 4"/>
          <p:cNvSpPr txBox="1"/>
          <p:nvPr/>
        </p:nvSpPr>
        <p:spPr>
          <a:xfrm>
            <a:off x="685800" y="2560320"/>
            <a:ext cx="1706819" cy="365760"/>
          </a:xfrm>
          <a:prstGeom prst="rect">
            <a:avLst/>
          </a:prstGeom>
          <a:noFill/>
          <a:ln/>
        </p:spPr>
        <p:txBody>
          <a:bodyPr wrap="square" lIns="0" tIns="0" rIns="0" bIns="0" rtlCol="0" anchor="ctr"/>
          <a:lstStyle/>
          <a:p>
            <a:pPr indent="0" marL="0">
              <a:buNone/>
            </a:pPr>
            <a:r>
              <a:rPr lang="en-US" sz="1800" b="1" dirty="0">
                <a:solidFill>
                  <a:schemeClr val="tx1"/>
                </a:solidFill>
              </a:rPr>
              <a:t>Price band</a:t>
            </a:r>
            <a:endParaRPr lang="en-US" sz="1800" dirty="0"/>
          </a:p>
        </p:txBody>
      </p:sp>
      <p:sp>
        <p:nvSpPr>
          <p:cNvPr id="9" name="Text 5"/>
          <p:cNvSpPr txBox="1"/>
          <p:nvPr/>
        </p:nvSpPr>
        <p:spPr>
          <a:xfrm>
            <a:off x="685800" y="2971800"/>
            <a:ext cx="1706819" cy="1005840"/>
          </a:xfrm>
          <a:prstGeom prst="rect">
            <a:avLst/>
          </a:prstGeom>
          <a:noFill/>
          <a:ln/>
        </p:spPr>
        <p:txBody>
          <a:bodyPr wrap="square" lIns="0" tIns="0" rIns="0" bIns="0" rtlCol="0" anchor="t"/>
          <a:lstStyle/>
          <a:p>
            <a:pPr algn="l" indent="0" marL="0">
              <a:buNone/>
            </a:pPr>
            <a:r>
              <a:rPr lang="en-US" sz="1400" dirty="0">
                <a:solidFill>
                  <a:schemeClr val="tx2"/>
                </a:solidFill>
              </a:rPr>
              <a:t>Offer stays between cost + 5% and MRP.</a:t>
            </a:r>
            <a:endParaRPr lang="en-US" sz="1400" dirty="0"/>
          </a:p>
        </p:txBody>
      </p:sp>
      <p:sp>
        <p:nvSpPr>
          <p:cNvPr id="10" name="Rule: Stock cap"/>
          <p:cNvSpPr/>
          <p:nvPr/>
        </p:nvSpPr>
        <p:spPr>
          <a:xfrm>
            <a:off x="2758379" y="1600200"/>
            <a:ext cx="2072579" cy="2514600"/>
          </a:xfrm>
          <a:prstGeom prst="roundRect">
            <a:avLst>
              <a:gd name="adj" fmla="val 4412"/>
            </a:avLst>
          </a:prstGeom>
          <a:solidFill>
            <a:schemeClr val="bg2"/>
          </a:solidFill>
          <a:ln w="3175">
            <a:solidFill>
              <a:schemeClr val="bg2"/>
            </a:solidFill>
            <a:prstDash val="solid"/>
          </a:ln>
        </p:spPr>
      </p:sp>
      <p:sp>
        <p:nvSpPr>
          <p:cNvPr id="11" name="Shape 7"/>
          <p:cNvSpPr/>
          <p:nvPr/>
        </p:nvSpPr>
        <p:spPr>
          <a:xfrm>
            <a:off x="2986979" y="1828800"/>
            <a:ext cx="566928" cy="566928"/>
          </a:xfrm>
          <a:prstGeom prst="ellipse">
            <a:avLst/>
          </a:prstGeom>
          <a:solidFill>
            <a:schemeClr val="accent5"/>
          </a:solidFill>
          <a:ln w="3175">
            <a:solidFill>
              <a:schemeClr val="accent5"/>
            </a:solidFill>
            <a:prstDash val="solid"/>
          </a:ln>
        </p:spPr>
      </p:sp>
      <p:pic>
        <p:nvPicPr>
          <p:cNvPr id="12" name="Image 1" descr="preencoded.png">    </p:cNvPr>
          <p:cNvPicPr>
            <a:picLocks noChangeAspect="1"/>
          </p:cNvPicPr>
          <p:nvPr/>
        </p:nvPicPr>
        <p:blipFill>
          <a:blip r:embed="rId2"/>
          <a:stretch>
            <a:fillRect/>
          </a:stretch>
        </p:blipFill>
        <p:spPr>
          <a:xfrm>
            <a:off x="3134380" y="1976201"/>
            <a:ext cx="272125" cy="272125"/>
          </a:xfrm>
          <a:prstGeom prst="rect">
            <a:avLst/>
          </a:prstGeom>
        </p:spPr>
      </p:pic>
      <p:sp>
        <p:nvSpPr>
          <p:cNvPr id="13" name="Text 8"/>
          <p:cNvSpPr txBox="1"/>
          <p:nvPr/>
        </p:nvSpPr>
        <p:spPr>
          <a:xfrm>
            <a:off x="2986979" y="2560320"/>
            <a:ext cx="1706819" cy="365760"/>
          </a:xfrm>
          <a:prstGeom prst="rect">
            <a:avLst/>
          </a:prstGeom>
          <a:noFill/>
          <a:ln/>
        </p:spPr>
        <p:txBody>
          <a:bodyPr wrap="square" lIns="0" tIns="0" rIns="0" bIns="0" rtlCol="0" anchor="ctr"/>
          <a:lstStyle/>
          <a:p>
            <a:pPr indent="0" marL="0">
              <a:buNone/>
            </a:pPr>
            <a:r>
              <a:rPr lang="en-US" sz="1800" b="1" dirty="0">
                <a:solidFill>
                  <a:schemeClr val="tx1"/>
                </a:solidFill>
              </a:rPr>
              <a:t>Stock cap</a:t>
            </a:r>
            <a:endParaRPr lang="en-US" sz="1800" dirty="0"/>
          </a:p>
        </p:txBody>
      </p:sp>
      <p:sp>
        <p:nvSpPr>
          <p:cNvPr id="14" name="Text 9"/>
          <p:cNvSpPr txBox="1"/>
          <p:nvPr/>
        </p:nvSpPr>
        <p:spPr>
          <a:xfrm>
            <a:off x="2986979" y="2971800"/>
            <a:ext cx="1706819" cy="1005840"/>
          </a:xfrm>
          <a:prstGeom prst="rect">
            <a:avLst/>
          </a:prstGeom>
          <a:noFill/>
          <a:ln/>
        </p:spPr>
        <p:txBody>
          <a:bodyPr wrap="square" lIns="0" tIns="0" rIns="0" bIns="0" rtlCol="0" anchor="t"/>
          <a:lstStyle/>
          <a:p>
            <a:pPr algn="l" indent="0" marL="0">
              <a:buNone/>
            </a:pPr>
            <a:r>
              <a:rPr lang="en-US" sz="1400" dirty="0">
                <a:solidFill>
                  <a:schemeClr val="tx2"/>
                </a:solidFill>
              </a:rPr>
              <a:t>Buyers stay within 80% of safe units; safe = stock − 15%.</a:t>
            </a:r>
            <a:endParaRPr lang="en-US" sz="1400" dirty="0"/>
          </a:p>
        </p:txBody>
      </p:sp>
      <p:sp>
        <p:nvSpPr>
          <p:cNvPr id="15" name="Rule: City stock"/>
          <p:cNvSpPr/>
          <p:nvPr/>
        </p:nvSpPr>
        <p:spPr>
          <a:xfrm>
            <a:off x="5059558" y="1600200"/>
            <a:ext cx="2072579" cy="2514600"/>
          </a:xfrm>
          <a:prstGeom prst="roundRect">
            <a:avLst>
              <a:gd name="adj" fmla="val 4412"/>
            </a:avLst>
          </a:prstGeom>
          <a:solidFill>
            <a:schemeClr val="bg2"/>
          </a:solidFill>
          <a:ln w="3175">
            <a:solidFill>
              <a:schemeClr val="bg2"/>
            </a:solidFill>
            <a:prstDash val="solid"/>
          </a:ln>
        </p:spPr>
      </p:sp>
      <p:sp>
        <p:nvSpPr>
          <p:cNvPr id="16" name="Shape 11"/>
          <p:cNvSpPr/>
          <p:nvPr/>
        </p:nvSpPr>
        <p:spPr>
          <a:xfrm>
            <a:off x="5288158" y="1828800"/>
            <a:ext cx="566928" cy="566928"/>
          </a:xfrm>
          <a:prstGeom prst="ellipse">
            <a:avLst/>
          </a:prstGeom>
          <a:solidFill>
            <a:schemeClr val="accent2"/>
          </a:solidFill>
          <a:ln w="3175">
            <a:solidFill>
              <a:schemeClr val="accent2"/>
            </a:solidFill>
            <a:prstDash val="solid"/>
          </a:ln>
        </p:spPr>
      </p:sp>
      <p:pic>
        <p:nvPicPr>
          <p:cNvPr id="17" name="Image 2" descr="preencoded.png">    </p:cNvPr>
          <p:cNvPicPr>
            <a:picLocks noChangeAspect="1"/>
          </p:cNvPicPr>
          <p:nvPr/>
        </p:nvPicPr>
        <p:blipFill>
          <a:blip r:embed="rId3"/>
          <a:stretch>
            <a:fillRect/>
          </a:stretch>
        </p:blipFill>
        <p:spPr>
          <a:xfrm>
            <a:off x="5435559" y="1976201"/>
            <a:ext cx="272125" cy="272125"/>
          </a:xfrm>
          <a:prstGeom prst="rect">
            <a:avLst/>
          </a:prstGeom>
        </p:spPr>
      </p:pic>
      <p:sp>
        <p:nvSpPr>
          <p:cNvPr id="18" name="Text 12"/>
          <p:cNvSpPr txBox="1"/>
          <p:nvPr/>
        </p:nvSpPr>
        <p:spPr>
          <a:xfrm>
            <a:off x="5288158" y="2560320"/>
            <a:ext cx="1706819" cy="365760"/>
          </a:xfrm>
          <a:prstGeom prst="rect">
            <a:avLst/>
          </a:prstGeom>
          <a:noFill/>
          <a:ln/>
        </p:spPr>
        <p:txBody>
          <a:bodyPr wrap="square" lIns="0" tIns="0" rIns="0" bIns="0" rtlCol="0" anchor="ctr"/>
          <a:lstStyle/>
          <a:p>
            <a:pPr indent="0" marL="0">
              <a:buNone/>
            </a:pPr>
            <a:r>
              <a:rPr lang="en-US" sz="1800" b="1" dirty="0">
                <a:solidFill>
                  <a:schemeClr val="tx1"/>
                </a:solidFill>
              </a:rPr>
              <a:t>City stock</a:t>
            </a:r>
            <a:endParaRPr lang="en-US" sz="1800" dirty="0"/>
          </a:p>
        </p:txBody>
      </p:sp>
      <p:sp>
        <p:nvSpPr>
          <p:cNvPr id="19" name="Text 13"/>
          <p:cNvSpPr txBox="1"/>
          <p:nvPr/>
        </p:nvSpPr>
        <p:spPr>
          <a:xfrm>
            <a:off x="5288158" y="2971800"/>
            <a:ext cx="1706819" cy="1005840"/>
          </a:xfrm>
          <a:prstGeom prst="rect">
            <a:avLst/>
          </a:prstGeom>
          <a:noFill/>
          <a:ln/>
        </p:spPr>
        <p:txBody>
          <a:bodyPr wrap="square" lIns="0" tIns="0" rIns="0" bIns="0" rtlCol="0" anchor="t"/>
          <a:lstStyle/>
          <a:p>
            <a:pPr algn="l" indent="0" marL="0">
              <a:buNone/>
            </a:pPr>
            <a:r>
              <a:rPr lang="en-US" sz="1400" dirty="0">
                <a:solidFill>
                  <a:schemeClr val="tx2"/>
                </a:solidFill>
              </a:rPr>
              <a:t>A city is promoted only from its own stock.</a:t>
            </a:r>
            <a:endParaRPr lang="en-US" sz="1400" dirty="0"/>
          </a:p>
        </p:txBody>
      </p:sp>
      <p:sp>
        <p:nvSpPr>
          <p:cNvPr id="20" name="Rule: Real profit"/>
          <p:cNvSpPr/>
          <p:nvPr/>
        </p:nvSpPr>
        <p:spPr>
          <a:xfrm>
            <a:off x="7360737" y="1600200"/>
            <a:ext cx="2072579" cy="2514600"/>
          </a:xfrm>
          <a:prstGeom prst="roundRect">
            <a:avLst>
              <a:gd name="adj" fmla="val 4412"/>
            </a:avLst>
          </a:prstGeom>
          <a:solidFill>
            <a:schemeClr val="bg2"/>
          </a:solidFill>
          <a:ln w="3175">
            <a:solidFill>
              <a:schemeClr val="bg2"/>
            </a:solidFill>
            <a:prstDash val="solid"/>
          </a:ln>
        </p:spPr>
      </p:sp>
      <p:sp>
        <p:nvSpPr>
          <p:cNvPr id="21" name="Shape 15"/>
          <p:cNvSpPr/>
          <p:nvPr/>
        </p:nvSpPr>
        <p:spPr>
          <a:xfrm>
            <a:off x="7589337" y="1828800"/>
            <a:ext cx="566928" cy="566928"/>
          </a:xfrm>
          <a:prstGeom prst="ellipse">
            <a:avLst/>
          </a:prstGeom>
          <a:solidFill>
            <a:schemeClr val="accent6"/>
          </a:solidFill>
          <a:ln w="3175">
            <a:solidFill>
              <a:schemeClr val="accent6"/>
            </a:solidFill>
            <a:prstDash val="solid"/>
          </a:ln>
        </p:spPr>
      </p:sp>
      <p:pic>
        <p:nvPicPr>
          <p:cNvPr id="22" name="Image 3" descr="preencoded.png">    </p:cNvPr>
          <p:cNvPicPr>
            <a:picLocks noChangeAspect="1"/>
          </p:cNvPicPr>
          <p:nvPr/>
        </p:nvPicPr>
        <p:blipFill>
          <a:blip r:embed="rId4"/>
          <a:stretch>
            <a:fillRect/>
          </a:stretch>
        </p:blipFill>
        <p:spPr>
          <a:xfrm>
            <a:off x="7736738" y="1976201"/>
            <a:ext cx="272125" cy="272125"/>
          </a:xfrm>
          <a:prstGeom prst="rect">
            <a:avLst/>
          </a:prstGeom>
        </p:spPr>
      </p:pic>
      <p:sp>
        <p:nvSpPr>
          <p:cNvPr id="23" name="Text 16"/>
          <p:cNvSpPr txBox="1"/>
          <p:nvPr/>
        </p:nvSpPr>
        <p:spPr>
          <a:xfrm>
            <a:off x="7589337" y="2560320"/>
            <a:ext cx="1706819" cy="365760"/>
          </a:xfrm>
          <a:prstGeom prst="rect">
            <a:avLst/>
          </a:prstGeom>
          <a:noFill/>
          <a:ln/>
        </p:spPr>
        <p:txBody>
          <a:bodyPr wrap="square" lIns="0" tIns="0" rIns="0" bIns="0" rtlCol="0" anchor="ctr"/>
          <a:lstStyle/>
          <a:p>
            <a:pPr indent="0" marL="0">
              <a:buNone/>
            </a:pPr>
            <a:r>
              <a:rPr lang="en-US" sz="1800" b="1" dirty="0">
                <a:solidFill>
                  <a:schemeClr val="tx1"/>
                </a:solidFill>
              </a:rPr>
              <a:t>Real profit</a:t>
            </a:r>
            <a:endParaRPr lang="en-US" sz="1800" dirty="0"/>
          </a:p>
        </p:txBody>
      </p:sp>
      <p:sp>
        <p:nvSpPr>
          <p:cNvPr id="24" name="Text 17"/>
          <p:cNvSpPr txBox="1"/>
          <p:nvPr/>
        </p:nvSpPr>
        <p:spPr>
          <a:xfrm>
            <a:off x="7589337" y="2971800"/>
            <a:ext cx="1706819" cy="1005840"/>
          </a:xfrm>
          <a:prstGeom prst="rect">
            <a:avLst/>
          </a:prstGeom>
          <a:noFill/>
          <a:ln/>
        </p:spPr>
        <p:txBody>
          <a:bodyPr wrap="square" lIns="0" tIns="0" rIns="0" bIns="0" rtlCol="0" anchor="t"/>
          <a:lstStyle/>
          <a:p>
            <a:pPr algn="l" indent="0" marL="0">
              <a:buNone/>
            </a:pPr>
            <a:r>
              <a:rPr lang="en-US" sz="1400" dirty="0">
                <a:solidFill>
                  <a:schemeClr val="tx2"/>
                </a:solidFill>
              </a:rPr>
              <a:t>Incremental profit must be positive, or it is not recommended.</a:t>
            </a:r>
            <a:endParaRPr lang="en-US" sz="1400" dirty="0"/>
          </a:p>
        </p:txBody>
      </p:sp>
      <p:sp>
        <p:nvSpPr>
          <p:cNvPr id="25" name="Rule: Budget"/>
          <p:cNvSpPr/>
          <p:nvPr/>
        </p:nvSpPr>
        <p:spPr>
          <a:xfrm>
            <a:off x="9661916" y="1600200"/>
            <a:ext cx="2072579" cy="2514600"/>
          </a:xfrm>
          <a:prstGeom prst="roundRect">
            <a:avLst>
              <a:gd name="adj" fmla="val 4412"/>
            </a:avLst>
          </a:prstGeom>
          <a:solidFill>
            <a:schemeClr val="bg2"/>
          </a:solidFill>
          <a:ln w="3175">
            <a:solidFill>
              <a:schemeClr val="bg2"/>
            </a:solidFill>
            <a:prstDash val="solid"/>
          </a:ln>
        </p:spPr>
      </p:sp>
      <p:sp>
        <p:nvSpPr>
          <p:cNvPr id="26" name="Shape 19"/>
          <p:cNvSpPr/>
          <p:nvPr/>
        </p:nvSpPr>
        <p:spPr>
          <a:xfrm>
            <a:off x="9890516" y="1828800"/>
            <a:ext cx="566928" cy="566928"/>
          </a:xfrm>
          <a:prstGeom prst="ellipse">
            <a:avLst/>
          </a:prstGeom>
          <a:solidFill>
            <a:schemeClr val="accent3"/>
          </a:solidFill>
          <a:ln w="3175">
            <a:solidFill>
              <a:schemeClr val="accent3"/>
            </a:solidFill>
            <a:prstDash val="solid"/>
          </a:ln>
        </p:spPr>
      </p:sp>
      <p:pic>
        <p:nvPicPr>
          <p:cNvPr id="27" name="Image 4" descr="preencoded.png">    </p:cNvPr>
          <p:cNvPicPr>
            <a:picLocks noChangeAspect="1"/>
          </p:cNvPicPr>
          <p:nvPr/>
        </p:nvPicPr>
        <p:blipFill>
          <a:blip r:embed="rId5"/>
          <a:stretch>
            <a:fillRect/>
          </a:stretch>
        </p:blipFill>
        <p:spPr>
          <a:xfrm>
            <a:off x="10037917" y="1976201"/>
            <a:ext cx="272125" cy="272125"/>
          </a:xfrm>
          <a:prstGeom prst="rect">
            <a:avLst/>
          </a:prstGeom>
        </p:spPr>
      </p:pic>
      <p:sp>
        <p:nvSpPr>
          <p:cNvPr id="28" name="Text 20"/>
          <p:cNvSpPr txBox="1"/>
          <p:nvPr/>
        </p:nvSpPr>
        <p:spPr>
          <a:xfrm>
            <a:off x="9890516" y="2560320"/>
            <a:ext cx="1706819" cy="365760"/>
          </a:xfrm>
          <a:prstGeom prst="rect">
            <a:avLst/>
          </a:prstGeom>
          <a:noFill/>
          <a:ln/>
        </p:spPr>
        <p:txBody>
          <a:bodyPr wrap="square" lIns="0" tIns="0" rIns="0" bIns="0" rtlCol="0" anchor="ctr"/>
          <a:lstStyle/>
          <a:p>
            <a:pPr indent="0" marL="0">
              <a:buNone/>
            </a:pPr>
            <a:r>
              <a:rPr lang="en-US" sz="1800" b="1" dirty="0">
                <a:solidFill>
                  <a:schemeClr val="tx1"/>
                </a:solidFill>
              </a:rPr>
              <a:t>Budget</a:t>
            </a:r>
            <a:endParaRPr lang="en-US" sz="1800" dirty="0"/>
          </a:p>
        </p:txBody>
      </p:sp>
      <p:sp>
        <p:nvSpPr>
          <p:cNvPr id="29" name="Text 21"/>
          <p:cNvSpPr txBox="1"/>
          <p:nvPr/>
        </p:nvSpPr>
        <p:spPr>
          <a:xfrm>
            <a:off x="9890516" y="2971800"/>
            <a:ext cx="1706819" cy="1005840"/>
          </a:xfrm>
          <a:prstGeom prst="rect">
            <a:avLst/>
          </a:prstGeom>
          <a:noFill/>
          <a:ln/>
        </p:spPr>
        <p:txBody>
          <a:bodyPr wrap="square" lIns="0" tIns="0" rIns="0" bIns="0" rtlCol="0" anchor="t"/>
          <a:lstStyle/>
          <a:p>
            <a:pPr algn="l" indent="0" marL="0">
              <a:buNone/>
            </a:pPr>
            <a:r>
              <a:rPr lang="en-US" sz="1400" dirty="0">
                <a:solidFill>
                  <a:schemeClr val="tx2"/>
                </a:solidFill>
              </a:rPr>
              <a:t>Funded promotions never exceed the budget or claim stock twice.</a:t>
            </a:r>
            <a:endParaRPr lang="en-US" sz="1400" dirty="0"/>
          </a:p>
        </p:txBody>
      </p:sp>
      <p:sp>
        <p:nvSpPr>
          <p:cNvPr id="30" name="Frame: dash_settings"/>
          <p:cNvSpPr/>
          <p:nvPr/>
        </p:nvSpPr>
        <p:spPr>
          <a:xfrm>
            <a:off x="457200" y="4389120"/>
            <a:ext cx="11277295" cy="1882350"/>
          </a:xfrm>
          <a:prstGeom prst="rect">
            <a:avLst/>
          </a:prstGeom>
          <a:solidFill>
            <a:schemeClr val="bg1"/>
          </a:solidFill>
          <a:ln w="9525">
            <a:solidFill>
              <a:schemeClr val="bg2"/>
            </a:solidFill>
            <a:prstDash val="solid"/>
          </a:ln>
          <a:effectLst>
            <a:outerShdw sx="100000" sy="100000" kx="0" ky="0" algn="bl" rotWithShape="0" blurRad="114300" dist="38100" dir="5400000">
              <a:srgbClr val="0F172A">
                <a:alpha val="16000"/>
              </a:srgbClr>
            </a:outerShdw>
          </a:effectLst>
        </p:spPr>
      </p:sp>
      <p:sp>
        <p:nvSpPr>
          <p:cNvPr id="31" name="Window bar: dash_settings"/>
          <p:cNvSpPr/>
          <p:nvPr/>
        </p:nvSpPr>
        <p:spPr>
          <a:xfrm>
            <a:off x="457200" y="4389120"/>
            <a:ext cx="11277295" cy="237744"/>
          </a:xfrm>
          <a:prstGeom prst="rect">
            <a:avLst/>
          </a:prstGeom>
          <a:solidFill>
            <a:schemeClr val="tx1"/>
          </a:solidFill>
          <a:ln w="6350">
            <a:solidFill>
              <a:schemeClr val="tx1"/>
            </a:solidFill>
            <a:prstDash val="solid"/>
          </a:ln>
        </p:spPr>
      </p:sp>
      <p:sp>
        <p:nvSpPr>
          <p:cNvPr id="32" name="Shape 24"/>
          <p:cNvSpPr/>
          <p:nvPr/>
        </p:nvSpPr>
        <p:spPr>
          <a:xfrm>
            <a:off x="566928" y="4471416"/>
            <a:ext cx="82296" cy="82296"/>
          </a:xfrm>
          <a:prstGeom prst="ellipse">
            <a:avLst/>
          </a:prstGeom>
          <a:solidFill>
            <a:schemeClr val="accent4"/>
          </a:solidFill>
          <a:ln w="3175">
            <a:solidFill>
              <a:schemeClr val="accent4"/>
            </a:solidFill>
            <a:prstDash val="solid"/>
          </a:ln>
        </p:spPr>
      </p:sp>
      <p:sp>
        <p:nvSpPr>
          <p:cNvPr id="33" name="Shape 25"/>
          <p:cNvSpPr/>
          <p:nvPr/>
        </p:nvSpPr>
        <p:spPr>
          <a:xfrm>
            <a:off x="713232" y="4471416"/>
            <a:ext cx="82296" cy="82296"/>
          </a:xfrm>
          <a:prstGeom prst="ellipse">
            <a:avLst/>
          </a:prstGeom>
          <a:solidFill>
            <a:schemeClr val="accent3"/>
          </a:solidFill>
          <a:ln w="3175">
            <a:solidFill>
              <a:schemeClr val="accent3"/>
            </a:solidFill>
            <a:prstDash val="solid"/>
          </a:ln>
        </p:spPr>
      </p:sp>
      <p:sp>
        <p:nvSpPr>
          <p:cNvPr id="34" name="Shape 26"/>
          <p:cNvSpPr/>
          <p:nvPr/>
        </p:nvSpPr>
        <p:spPr>
          <a:xfrm>
            <a:off x="859536" y="4471416"/>
            <a:ext cx="82296" cy="82296"/>
          </a:xfrm>
          <a:prstGeom prst="ellipse">
            <a:avLst/>
          </a:prstGeom>
          <a:solidFill>
            <a:schemeClr val="accent2"/>
          </a:solidFill>
          <a:ln w="3175">
            <a:solidFill>
              <a:schemeClr val="accent2"/>
            </a:solidFill>
            <a:prstDash val="solid"/>
          </a:ln>
        </p:spPr>
      </p:sp>
      <p:sp>
        <p:nvSpPr>
          <p:cNvPr id="35" name="URL: dash_settings"/>
          <p:cNvSpPr txBox="1"/>
          <p:nvPr/>
        </p:nvSpPr>
        <p:spPr>
          <a:xfrm>
            <a:off x="1097280" y="4389120"/>
            <a:ext cx="10454335" cy="237744"/>
          </a:xfrm>
          <a:prstGeom prst="rect">
            <a:avLst/>
          </a:prstGeom>
          <a:noFill/>
          <a:ln/>
        </p:spPr>
        <p:txBody>
          <a:bodyPr wrap="square" lIns="0" tIns="0" rIns="0" bIns="0" rtlCol="0" anchor="ctr"/>
          <a:lstStyle/>
          <a:p>
            <a:pPr algn="l" indent="0" marL="0">
              <a:buNone/>
            </a:pPr>
            <a:r>
              <a:rPr lang="en-US" sz="1000" dirty="0">
                <a:solidFill>
                  <a:schemeClr val="bg2"/>
                </a:solidFill>
              </a:rPr>
              <a:t>localhost:3000/dashboard</a:t>
            </a:r>
            <a:endParaRPr lang="en-US" sz="1000" dirty="0"/>
          </a:p>
        </p:txBody>
      </p:sp>
      <p:pic>
        <p:nvPicPr>
          <p:cNvPr id="36" name="Screenshot: dash_settings" descr="Assumptions panel with editable margin floor, safety stock, promo cost per contact and marketing budget">    </p:cNvPr>
          <p:cNvPicPr>
            <a:picLocks noChangeAspect="1"/>
          </p:cNvPicPr>
          <p:nvPr/>
        </p:nvPicPr>
        <p:blipFill>
          <a:blip r:embed="rId6"/>
          <a:stretch>
            <a:fillRect/>
          </a:stretch>
        </p:blipFill>
        <p:spPr>
          <a:xfrm>
            <a:off x="457200" y="4626864"/>
            <a:ext cx="11277295" cy="1644606"/>
          </a:xfrm>
          <a:prstGeom prst="rect">
            <a:avLst/>
          </a:prstGeom>
        </p:spPr>
      </p:pic>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400" b="1" dirty="0">
                <a:solidFill>
                  <a:schemeClr val="tx1"/>
                </a:solidFill>
              </a:rPr>
              <a:t>How a decision is made</a:t>
            </a:r>
            <a:endParaRPr lang="en-US" sz="3400" dirty="0"/>
          </a:p>
        </p:txBody>
      </p:sp>
      <p:sp>
        <p:nvSpPr>
          <p:cNvPr id="3" name="Text 0"/>
          <p:cNvSpPr/>
          <p:nvPr>
            <p:ph idx="101" type="body" hasCustomPrompt="1"/>
          </p:nvPr>
        </p:nvSpPr>
        <p:spPr>
          <a:xfrm>
            <a:off x="457200" y="960120"/>
            <a:ext cx="11277295" cy="384048"/>
          </a:xfrm>
          <a:prstGeom prst="rect">
            <a:avLst/>
          </a:prstGeom>
          <a:noFill/>
          <a:ln/>
        </p:spPr>
        <p:txBody>
          <a:bodyPr wrap="square" lIns="0" tIns="0" rIns="0" bIns="0" rtlCol="0" anchor="t"/>
          <a:lstStyle/>
          <a:p>
            <a:pPr algn="l" indent="0" marL="0">
              <a:buNone/>
            </a:pPr>
            <a:r>
              <a:rPr lang="en-US" sz="1600" dirty="0">
                <a:solidFill>
                  <a:schemeClr val="tx2"/>
                </a:solidFill>
              </a:rPr>
              <a:t>For every product × segment × city, then a budget allocator picks what to fund</a:t>
            </a:r>
            <a:endParaRPr lang="en-US" sz="1600" dirty="0"/>
          </a:p>
        </p:txBody>
      </p:sp>
      <p:sp>
        <p:nvSpPr>
          <p:cNvPr id="5" name="Step: Legal band"/>
          <p:cNvSpPr/>
          <p:nvPr/>
        </p:nvSpPr>
        <p:spPr>
          <a:xfrm>
            <a:off x="457200" y="1600200"/>
            <a:ext cx="2011863" cy="2148840"/>
          </a:xfrm>
          <a:prstGeom prst="roundRect">
            <a:avLst>
              <a:gd name="adj" fmla="val 4545"/>
            </a:avLst>
          </a:prstGeom>
          <a:solidFill>
            <a:schemeClr val="bg2"/>
          </a:solidFill>
          <a:ln w="3175">
            <a:solidFill>
              <a:schemeClr val="bg2"/>
            </a:solidFill>
            <a:prstDash val="solid"/>
          </a:ln>
        </p:spPr>
      </p:sp>
      <p:sp>
        <p:nvSpPr>
          <p:cNvPr id="6" name="Shape 3"/>
          <p:cNvSpPr/>
          <p:nvPr/>
        </p:nvSpPr>
        <p:spPr>
          <a:xfrm>
            <a:off x="658368" y="1801368"/>
            <a:ext cx="420624" cy="420624"/>
          </a:xfrm>
          <a:prstGeom prst="ellipse">
            <a:avLst/>
          </a:prstGeom>
          <a:solidFill>
            <a:schemeClr val="accent1"/>
          </a:solidFill>
          <a:ln w="3175">
            <a:solidFill>
              <a:schemeClr val="accent1"/>
            </a:solidFill>
            <a:prstDash val="solid"/>
          </a:ln>
        </p:spPr>
      </p:sp>
      <p:sp>
        <p:nvSpPr>
          <p:cNvPr id="7" name="Text 4"/>
          <p:cNvSpPr txBox="1"/>
          <p:nvPr/>
        </p:nvSpPr>
        <p:spPr>
          <a:xfrm>
            <a:off x="658368" y="18013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658368" y="2350008"/>
            <a:ext cx="1691823" cy="365760"/>
          </a:xfrm>
          <a:prstGeom prst="rect">
            <a:avLst/>
          </a:prstGeom>
          <a:noFill/>
          <a:ln/>
        </p:spPr>
        <p:txBody>
          <a:bodyPr wrap="square" lIns="0" tIns="0" rIns="0" bIns="0" rtlCol="0" anchor="ctr"/>
          <a:lstStyle/>
          <a:p>
            <a:pPr indent="0" marL="0">
              <a:buNone/>
            </a:pPr>
            <a:r>
              <a:rPr lang="en-US" sz="1600" b="1" dirty="0">
                <a:solidFill>
                  <a:schemeClr val="tx1"/>
                </a:solidFill>
              </a:rPr>
              <a:t>Legal band</a:t>
            </a:r>
            <a:endParaRPr lang="en-US" sz="1600" dirty="0"/>
          </a:p>
        </p:txBody>
      </p:sp>
      <p:sp>
        <p:nvSpPr>
          <p:cNvPr id="9" name="Text 6"/>
          <p:cNvSpPr txBox="1"/>
          <p:nvPr/>
        </p:nvSpPr>
        <p:spPr>
          <a:xfrm>
            <a:off x="658368" y="2743200"/>
            <a:ext cx="1691823" cy="914400"/>
          </a:xfrm>
          <a:prstGeom prst="rect">
            <a:avLst/>
          </a:prstGeom>
          <a:noFill/>
          <a:ln/>
        </p:spPr>
        <p:txBody>
          <a:bodyPr wrap="square" lIns="0" tIns="0" rIns="0" bIns="0" rtlCol="0" anchor="t"/>
          <a:lstStyle/>
          <a:p>
            <a:pPr algn="l" indent="0" marL="0">
              <a:buNone/>
            </a:pPr>
            <a:r>
              <a:rPr lang="en-US" sz="1400" dirty="0">
                <a:solidFill>
                  <a:schemeClr val="tx2"/>
                </a:solidFill>
              </a:rPr>
              <a:t>Offer between cost + 5% and MRP; an empty band means reject</a:t>
            </a:r>
            <a:endParaRPr lang="en-US" sz="1400" dirty="0"/>
          </a:p>
        </p:txBody>
      </p:sp>
      <p:pic>
        <p:nvPicPr>
          <p:cNvPr id="10" name="Image 0" descr="preencoded.png">    </p:cNvPr>
          <p:cNvPicPr>
            <a:picLocks noChangeAspect="1"/>
          </p:cNvPicPr>
          <p:nvPr/>
        </p:nvPicPr>
        <p:blipFill>
          <a:blip r:embed="rId1"/>
          <a:stretch>
            <a:fillRect/>
          </a:stretch>
        </p:blipFill>
        <p:spPr>
          <a:xfrm>
            <a:off x="2505639" y="2564892"/>
            <a:ext cx="228600" cy="228600"/>
          </a:xfrm>
          <a:prstGeom prst="rect">
            <a:avLst/>
          </a:prstGeom>
        </p:spPr>
      </p:pic>
      <p:sp>
        <p:nvSpPr>
          <p:cNvPr id="11" name="Step: Try each discount"/>
          <p:cNvSpPr/>
          <p:nvPr/>
        </p:nvSpPr>
        <p:spPr>
          <a:xfrm>
            <a:off x="2773558" y="1600200"/>
            <a:ext cx="2011863" cy="2148840"/>
          </a:xfrm>
          <a:prstGeom prst="roundRect">
            <a:avLst>
              <a:gd name="adj" fmla="val 4545"/>
            </a:avLst>
          </a:prstGeom>
          <a:solidFill>
            <a:schemeClr val="bg2"/>
          </a:solidFill>
          <a:ln w="3175">
            <a:solidFill>
              <a:schemeClr val="bg2"/>
            </a:solidFill>
            <a:prstDash val="solid"/>
          </a:ln>
        </p:spPr>
      </p:sp>
      <p:sp>
        <p:nvSpPr>
          <p:cNvPr id="12" name="Shape 8"/>
          <p:cNvSpPr/>
          <p:nvPr/>
        </p:nvSpPr>
        <p:spPr>
          <a:xfrm>
            <a:off x="2974726" y="1801368"/>
            <a:ext cx="420624" cy="420624"/>
          </a:xfrm>
          <a:prstGeom prst="ellipse">
            <a:avLst/>
          </a:prstGeom>
          <a:solidFill>
            <a:schemeClr val="accent1"/>
          </a:solidFill>
          <a:ln w="3175">
            <a:solidFill>
              <a:schemeClr val="accent1"/>
            </a:solidFill>
            <a:prstDash val="solid"/>
          </a:ln>
        </p:spPr>
      </p:sp>
      <p:sp>
        <p:nvSpPr>
          <p:cNvPr id="13" name="Text 9"/>
          <p:cNvSpPr txBox="1"/>
          <p:nvPr/>
        </p:nvSpPr>
        <p:spPr>
          <a:xfrm>
            <a:off x="2974726" y="18013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0"/>
          <p:cNvSpPr txBox="1"/>
          <p:nvPr/>
        </p:nvSpPr>
        <p:spPr>
          <a:xfrm>
            <a:off x="2974726" y="2350008"/>
            <a:ext cx="1691823" cy="365760"/>
          </a:xfrm>
          <a:prstGeom prst="rect">
            <a:avLst/>
          </a:prstGeom>
          <a:noFill/>
          <a:ln/>
        </p:spPr>
        <p:txBody>
          <a:bodyPr wrap="square" lIns="0" tIns="0" rIns="0" bIns="0" rtlCol="0" anchor="ctr"/>
          <a:lstStyle/>
          <a:p>
            <a:pPr indent="0" marL="0">
              <a:buNone/>
            </a:pPr>
            <a:r>
              <a:rPr lang="en-US" sz="1600" b="1" dirty="0">
                <a:solidFill>
                  <a:schemeClr val="tx1"/>
                </a:solidFill>
              </a:rPr>
              <a:t>Try each discount</a:t>
            </a:r>
            <a:endParaRPr lang="en-US" sz="1600" dirty="0"/>
          </a:p>
        </p:txBody>
      </p:sp>
      <p:sp>
        <p:nvSpPr>
          <p:cNvPr id="15" name="Text 11"/>
          <p:cNvSpPr txBox="1"/>
          <p:nvPr/>
        </p:nvSpPr>
        <p:spPr>
          <a:xfrm>
            <a:off x="2974726" y="2743200"/>
            <a:ext cx="1691823" cy="914400"/>
          </a:xfrm>
          <a:prstGeom prst="rect">
            <a:avLst/>
          </a:prstGeom>
          <a:noFill/>
          <a:ln/>
        </p:spPr>
        <p:txBody>
          <a:bodyPr wrap="square" lIns="0" tIns="0" rIns="0" bIns="0" rtlCol="0" anchor="t"/>
          <a:lstStyle/>
          <a:p>
            <a:pPr algn="l" indent="0" marL="0">
              <a:buNone/>
            </a:pPr>
            <a:r>
              <a:rPr lang="en-US" sz="1400" dirty="0">
                <a:solidFill>
                  <a:schemeClr val="tx2"/>
                </a:solidFill>
              </a:rPr>
              <a:t>2.5-point steps, every one scored</a:t>
            </a:r>
            <a:endParaRPr lang="en-US" sz="1400" dirty="0"/>
          </a:p>
        </p:txBody>
      </p:sp>
      <p:pic>
        <p:nvPicPr>
          <p:cNvPr id="16" name="Image 1" descr="preencoded.png">    </p:cNvPr>
          <p:cNvPicPr>
            <a:picLocks noChangeAspect="1"/>
          </p:cNvPicPr>
          <p:nvPr/>
        </p:nvPicPr>
        <p:blipFill>
          <a:blip r:embed="rId2"/>
          <a:stretch>
            <a:fillRect/>
          </a:stretch>
        </p:blipFill>
        <p:spPr>
          <a:xfrm>
            <a:off x="4821997" y="2564892"/>
            <a:ext cx="228600" cy="228600"/>
          </a:xfrm>
          <a:prstGeom prst="rect">
            <a:avLst/>
          </a:prstGeom>
        </p:spPr>
      </p:pic>
      <p:sp>
        <p:nvSpPr>
          <p:cNvPr id="17" name="Step: Three models"/>
          <p:cNvSpPr/>
          <p:nvPr/>
        </p:nvSpPr>
        <p:spPr>
          <a:xfrm>
            <a:off x="5089916" y="1600200"/>
            <a:ext cx="2011863" cy="2148840"/>
          </a:xfrm>
          <a:prstGeom prst="roundRect">
            <a:avLst>
              <a:gd name="adj" fmla="val 4545"/>
            </a:avLst>
          </a:prstGeom>
          <a:solidFill>
            <a:schemeClr val="bg2"/>
          </a:solidFill>
          <a:ln w="3175">
            <a:solidFill>
              <a:schemeClr val="bg2"/>
            </a:solidFill>
            <a:prstDash val="solid"/>
          </a:ln>
        </p:spPr>
      </p:sp>
      <p:sp>
        <p:nvSpPr>
          <p:cNvPr id="18" name="Shape 13"/>
          <p:cNvSpPr/>
          <p:nvPr/>
        </p:nvSpPr>
        <p:spPr>
          <a:xfrm>
            <a:off x="5291084" y="1801368"/>
            <a:ext cx="420624" cy="420624"/>
          </a:xfrm>
          <a:prstGeom prst="ellipse">
            <a:avLst/>
          </a:prstGeom>
          <a:solidFill>
            <a:schemeClr val="accent1"/>
          </a:solidFill>
          <a:ln w="3175">
            <a:solidFill>
              <a:schemeClr val="accent1"/>
            </a:solidFill>
            <a:prstDash val="solid"/>
          </a:ln>
        </p:spPr>
      </p:sp>
      <p:sp>
        <p:nvSpPr>
          <p:cNvPr id="19" name="Text 14"/>
          <p:cNvSpPr txBox="1"/>
          <p:nvPr/>
        </p:nvSpPr>
        <p:spPr>
          <a:xfrm>
            <a:off x="5291084" y="18013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ext 15"/>
          <p:cNvSpPr txBox="1"/>
          <p:nvPr/>
        </p:nvSpPr>
        <p:spPr>
          <a:xfrm>
            <a:off x="5291084" y="2350008"/>
            <a:ext cx="1691823" cy="365760"/>
          </a:xfrm>
          <a:prstGeom prst="rect">
            <a:avLst/>
          </a:prstGeom>
          <a:noFill/>
          <a:ln/>
        </p:spPr>
        <p:txBody>
          <a:bodyPr wrap="square" lIns="0" tIns="0" rIns="0" bIns="0" rtlCol="0" anchor="ctr"/>
          <a:lstStyle/>
          <a:p>
            <a:pPr indent="0" marL="0">
              <a:buNone/>
            </a:pPr>
            <a:r>
              <a:rPr lang="en-US" sz="1600" b="1" dirty="0">
                <a:solidFill>
                  <a:schemeClr val="tx1"/>
                </a:solidFill>
              </a:rPr>
              <a:t>Three models</a:t>
            </a:r>
            <a:endParaRPr lang="en-US" sz="1600" dirty="0"/>
          </a:p>
        </p:txBody>
      </p:sp>
      <p:sp>
        <p:nvSpPr>
          <p:cNvPr id="21" name="Text 16"/>
          <p:cNvSpPr txBox="1"/>
          <p:nvPr/>
        </p:nvSpPr>
        <p:spPr>
          <a:xfrm>
            <a:off x="5291084" y="2743200"/>
            <a:ext cx="1691823" cy="914400"/>
          </a:xfrm>
          <a:prstGeom prst="rect">
            <a:avLst/>
          </a:prstGeom>
          <a:noFill/>
          <a:ln/>
        </p:spPr>
        <p:txBody>
          <a:bodyPr wrap="square" lIns="0" tIns="0" rIns="0" bIns="0" rtlCol="0" anchor="t"/>
          <a:lstStyle/>
          <a:p>
            <a:pPr algn="l" indent="0" marL="0">
              <a:buNone/>
            </a:pPr>
            <a:r>
              <a:rPr lang="en-US" sz="1400" dirty="0">
                <a:solidFill>
                  <a:schemeClr val="tx2"/>
                </a:solidFill>
              </a:rPr>
              <a:t>Response, demand and inventory for each discount</a:t>
            </a:r>
            <a:endParaRPr lang="en-US" sz="1400" dirty="0"/>
          </a:p>
        </p:txBody>
      </p:sp>
      <p:pic>
        <p:nvPicPr>
          <p:cNvPr id="22" name="Image 2" descr="preencoded.png">    </p:cNvPr>
          <p:cNvPicPr>
            <a:picLocks noChangeAspect="1"/>
          </p:cNvPicPr>
          <p:nvPr/>
        </p:nvPicPr>
        <p:blipFill>
          <a:blip r:embed="rId3"/>
          <a:stretch>
            <a:fillRect/>
          </a:stretch>
        </p:blipFill>
        <p:spPr>
          <a:xfrm>
            <a:off x="7138355" y="2564892"/>
            <a:ext cx="228600" cy="228600"/>
          </a:xfrm>
          <a:prstGeom prst="rect">
            <a:avLst/>
          </a:prstGeom>
        </p:spPr>
      </p:pic>
      <p:sp>
        <p:nvSpPr>
          <p:cNvPr id="23" name="Step: Incremental profit"/>
          <p:cNvSpPr/>
          <p:nvPr/>
        </p:nvSpPr>
        <p:spPr>
          <a:xfrm>
            <a:off x="7406274" y="1600200"/>
            <a:ext cx="2011863" cy="2148840"/>
          </a:xfrm>
          <a:prstGeom prst="roundRect">
            <a:avLst>
              <a:gd name="adj" fmla="val 4545"/>
            </a:avLst>
          </a:prstGeom>
          <a:solidFill>
            <a:schemeClr val="bg2"/>
          </a:solidFill>
          <a:ln w="3175">
            <a:solidFill>
              <a:schemeClr val="bg2"/>
            </a:solidFill>
            <a:prstDash val="solid"/>
          </a:ln>
        </p:spPr>
      </p:sp>
      <p:sp>
        <p:nvSpPr>
          <p:cNvPr id="24" name="Shape 18"/>
          <p:cNvSpPr/>
          <p:nvPr/>
        </p:nvSpPr>
        <p:spPr>
          <a:xfrm>
            <a:off x="7607442" y="1801368"/>
            <a:ext cx="420624" cy="420624"/>
          </a:xfrm>
          <a:prstGeom prst="ellipse">
            <a:avLst/>
          </a:prstGeom>
          <a:solidFill>
            <a:schemeClr val="accent1"/>
          </a:solidFill>
          <a:ln w="3175">
            <a:solidFill>
              <a:schemeClr val="accent1"/>
            </a:solidFill>
            <a:prstDash val="solid"/>
          </a:ln>
        </p:spPr>
      </p:sp>
      <p:sp>
        <p:nvSpPr>
          <p:cNvPr id="25" name="Text 19"/>
          <p:cNvSpPr txBox="1"/>
          <p:nvPr/>
        </p:nvSpPr>
        <p:spPr>
          <a:xfrm>
            <a:off x="7607442" y="18013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6" name="Text 20"/>
          <p:cNvSpPr txBox="1"/>
          <p:nvPr/>
        </p:nvSpPr>
        <p:spPr>
          <a:xfrm>
            <a:off x="7607442" y="2350008"/>
            <a:ext cx="1691823" cy="365760"/>
          </a:xfrm>
          <a:prstGeom prst="rect">
            <a:avLst/>
          </a:prstGeom>
          <a:noFill/>
          <a:ln/>
        </p:spPr>
        <p:txBody>
          <a:bodyPr wrap="square" lIns="0" tIns="0" rIns="0" bIns="0" rtlCol="0" anchor="ctr"/>
          <a:lstStyle/>
          <a:p>
            <a:pPr indent="0" marL="0">
              <a:buNone/>
            </a:pPr>
            <a:r>
              <a:rPr lang="en-US" sz="1600" b="1" dirty="0">
                <a:solidFill>
                  <a:schemeClr val="tx1"/>
                </a:solidFill>
              </a:rPr>
              <a:t>Incremental profit</a:t>
            </a:r>
            <a:endParaRPr lang="en-US" sz="1600" dirty="0"/>
          </a:p>
        </p:txBody>
      </p:sp>
      <p:sp>
        <p:nvSpPr>
          <p:cNvPr id="27" name="Text 21"/>
          <p:cNvSpPr txBox="1"/>
          <p:nvPr/>
        </p:nvSpPr>
        <p:spPr>
          <a:xfrm>
            <a:off x="7607442" y="2743200"/>
            <a:ext cx="1691823" cy="914400"/>
          </a:xfrm>
          <a:prstGeom prst="rect">
            <a:avLst/>
          </a:prstGeom>
          <a:noFill/>
          <a:ln/>
        </p:spPr>
        <p:txBody>
          <a:bodyPr wrap="square" lIns="0" tIns="0" rIns="0" bIns="0" rtlCol="0" anchor="t"/>
          <a:lstStyle/>
          <a:p>
            <a:pPr algn="l" indent="0" marL="0">
              <a:buNone/>
            </a:pPr>
            <a:r>
              <a:rPr lang="en-US" sz="1400" dirty="0">
                <a:solidFill>
                  <a:schemeClr val="tx2"/>
                </a:solidFill>
              </a:rPr>
              <a:t>Promoted minus baseline, after returns, stock caps and stockout risk</a:t>
            </a:r>
            <a:endParaRPr lang="en-US" sz="1400" dirty="0"/>
          </a:p>
        </p:txBody>
      </p:sp>
      <p:pic>
        <p:nvPicPr>
          <p:cNvPr id="28" name="Image 3" descr="preencoded.png">    </p:cNvPr>
          <p:cNvPicPr>
            <a:picLocks noChangeAspect="1"/>
          </p:cNvPicPr>
          <p:nvPr/>
        </p:nvPicPr>
        <p:blipFill>
          <a:blip r:embed="rId4"/>
          <a:stretch>
            <a:fillRect/>
          </a:stretch>
        </p:blipFill>
        <p:spPr>
          <a:xfrm>
            <a:off x="9454713" y="2564892"/>
            <a:ext cx="228600" cy="228600"/>
          </a:xfrm>
          <a:prstGeom prst="rect">
            <a:avLst/>
          </a:prstGeom>
        </p:spPr>
      </p:pic>
      <p:sp>
        <p:nvSpPr>
          <p:cNvPr id="29" name="Step: Budget allocator"/>
          <p:cNvSpPr/>
          <p:nvPr/>
        </p:nvSpPr>
        <p:spPr>
          <a:xfrm>
            <a:off x="9722632" y="1600200"/>
            <a:ext cx="2011863" cy="2148840"/>
          </a:xfrm>
          <a:prstGeom prst="roundRect">
            <a:avLst>
              <a:gd name="adj" fmla="val 4545"/>
            </a:avLst>
          </a:prstGeom>
          <a:solidFill>
            <a:schemeClr val="bg2"/>
          </a:solidFill>
          <a:ln w="3175">
            <a:solidFill>
              <a:schemeClr val="bg2"/>
            </a:solidFill>
            <a:prstDash val="solid"/>
          </a:ln>
        </p:spPr>
      </p:sp>
      <p:sp>
        <p:nvSpPr>
          <p:cNvPr id="30" name="Shape 23"/>
          <p:cNvSpPr/>
          <p:nvPr/>
        </p:nvSpPr>
        <p:spPr>
          <a:xfrm>
            <a:off x="9923800" y="1801368"/>
            <a:ext cx="420624" cy="420624"/>
          </a:xfrm>
          <a:prstGeom prst="ellipse">
            <a:avLst/>
          </a:prstGeom>
          <a:solidFill>
            <a:schemeClr val="accent1"/>
          </a:solidFill>
          <a:ln w="3175">
            <a:solidFill>
              <a:schemeClr val="accent1"/>
            </a:solidFill>
            <a:prstDash val="solid"/>
          </a:ln>
        </p:spPr>
      </p:sp>
      <p:sp>
        <p:nvSpPr>
          <p:cNvPr id="31" name="Text 24"/>
          <p:cNvSpPr txBox="1"/>
          <p:nvPr/>
        </p:nvSpPr>
        <p:spPr>
          <a:xfrm>
            <a:off x="9923800" y="18013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2" name="Text 25"/>
          <p:cNvSpPr txBox="1"/>
          <p:nvPr/>
        </p:nvSpPr>
        <p:spPr>
          <a:xfrm>
            <a:off x="9923800" y="2350008"/>
            <a:ext cx="1691823" cy="365760"/>
          </a:xfrm>
          <a:prstGeom prst="rect">
            <a:avLst/>
          </a:prstGeom>
          <a:noFill/>
          <a:ln/>
        </p:spPr>
        <p:txBody>
          <a:bodyPr wrap="square" lIns="0" tIns="0" rIns="0" bIns="0" rtlCol="0" anchor="ctr"/>
          <a:lstStyle/>
          <a:p>
            <a:pPr indent="0" marL="0">
              <a:buNone/>
            </a:pPr>
            <a:r>
              <a:rPr lang="en-US" sz="1600" b="1" dirty="0">
                <a:solidFill>
                  <a:schemeClr val="tx1"/>
                </a:solidFill>
              </a:rPr>
              <a:t>Budget allocator</a:t>
            </a:r>
            <a:endParaRPr lang="en-US" sz="1600" dirty="0"/>
          </a:p>
        </p:txBody>
      </p:sp>
      <p:sp>
        <p:nvSpPr>
          <p:cNvPr id="33" name="Text 26"/>
          <p:cNvSpPr txBox="1"/>
          <p:nvPr/>
        </p:nvSpPr>
        <p:spPr>
          <a:xfrm>
            <a:off x="9923800" y="2743200"/>
            <a:ext cx="1691823" cy="914400"/>
          </a:xfrm>
          <a:prstGeom prst="rect">
            <a:avLst/>
          </a:prstGeom>
          <a:noFill/>
          <a:ln/>
        </p:spPr>
        <p:txBody>
          <a:bodyPr wrap="square" lIns="0" tIns="0" rIns="0" bIns="0" rtlCol="0" anchor="t"/>
          <a:lstStyle/>
          <a:p>
            <a:pPr algn="l" indent="0" marL="0">
              <a:buNone/>
            </a:pPr>
            <a:r>
              <a:rPr lang="en-US" sz="1400" dirty="0">
                <a:solidFill>
                  <a:schemeClr val="tx2"/>
                </a:solidFill>
              </a:rPr>
              <a:t>Ranks by profit per ₹ of promo cost, fills the budget, deducts stock</a:t>
            </a:r>
            <a:endParaRPr lang="en-US" sz="1400" dirty="0"/>
          </a:p>
        </p:txBody>
      </p:sp>
      <p:sp>
        <p:nvSpPr>
          <p:cNvPr id="34" name="Data panel"/>
          <p:cNvSpPr/>
          <p:nvPr/>
        </p:nvSpPr>
        <p:spPr>
          <a:xfrm>
            <a:off x="457200" y="4069080"/>
            <a:ext cx="11277295" cy="2240280"/>
          </a:xfrm>
          <a:prstGeom prst="roundRect">
            <a:avLst>
              <a:gd name="adj" fmla="val 4082"/>
            </a:avLst>
          </a:prstGeom>
          <a:solidFill>
            <a:schemeClr val="bg2"/>
          </a:solidFill>
          <a:ln w="3175">
            <a:solidFill>
              <a:schemeClr val="bg2"/>
            </a:solidFill>
            <a:prstDash val="solid"/>
          </a:ln>
        </p:spPr>
      </p:sp>
      <p:sp>
        <p:nvSpPr>
          <p:cNvPr id="35" name="Text 28"/>
          <p:cNvSpPr txBox="1"/>
          <p:nvPr/>
        </p:nvSpPr>
        <p:spPr>
          <a:xfrm>
            <a:off x="731520" y="4251960"/>
            <a:ext cx="2743200" cy="365760"/>
          </a:xfrm>
          <a:prstGeom prst="rect">
            <a:avLst/>
          </a:prstGeom>
          <a:noFill/>
          <a:ln/>
        </p:spPr>
        <p:txBody>
          <a:bodyPr wrap="square" lIns="0" tIns="0" rIns="0" bIns="0" rtlCol="0" anchor="ctr"/>
          <a:lstStyle/>
          <a:p>
            <a:pPr indent="0" marL="0">
              <a:buNone/>
            </a:pPr>
            <a:r>
              <a:rPr lang="en-US" sz="2000" b="1" dirty="0">
                <a:solidFill>
                  <a:schemeClr val="tx1"/>
                </a:solidFill>
              </a:rPr>
              <a:t>Data</a:t>
            </a:r>
            <a:endParaRPr lang="en-US" sz="2000" dirty="0"/>
          </a:p>
        </p:txBody>
      </p:sp>
      <p:pic>
        <p:nvPicPr>
          <p:cNvPr id="36" name="Image 4" descr="Sidebar badge: MongoDB, database promopilot">    </p:cNvPr>
          <p:cNvPicPr>
            <a:picLocks noChangeAspect="1"/>
          </p:cNvPicPr>
          <p:nvPr/>
        </p:nvPicPr>
        <p:blipFill>
          <a:blip r:embed="rId5"/>
          <a:stretch>
            <a:fillRect/>
          </a:stretch>
        </p:blipFill>
        <p:spPr>
          <a:xfrm>
            <a:off x="731520" y="4800600"/>
            <a:ext cx="2468880" cy="676568"/>
          </a:xfrm>
          <a:prstGeom prst="rect">
            <a:avLst/>
          </a:prstGeom>
        </p:spPr>
      </p:pic>
      <p:sp>
        <p:nvSpPr>
          <p:cNvPr id="37" name="Text 29"/>
          <p:cNvSpPr txBox="1"/>
          <p:nvPr/>
        </p:nvSpPr>
        <p:spPr>
          <a:xfrm>
            <a:off x="731520" y="5614328"/>
            <a:ext cx="2926080" cy="548640"/>
          </a:xfrm>
          <a:prstGeom prst="rect">
            <a:avLst/>
          </a:prstGeom>
          <a:noFill/>
          <a:ln/>
        </p:spPr>
        <p:txBody>
          <a:bodyPr wrap="square" lIns="0" tIns="0" rIns="0" bIns="0" rtlCol="0" anchor="t"/>
          <a:lstStyle/>
          <a:p>
            <a:pPr algn="l" indent="0" marL="0">
              <a:buNone/>
            </a:pPr>
            <a:r>
              <a:rPr lang="en-US" sz="1200" dirty="0">
                <a:solidFill>
                  <a:schemeClr val="tx2"/>
                </a:solidFill>
              </a:rPr>
              <a:t>The sidebar badge shows where the numbers came from</a:t>
            </a:r>
            <a:endParaRPr lang="en-US" sz="1200" dirty="0"/>
          </a:p>
        </p:txBody>
      </p:sp>
      <p:sp>
        <p:nvSpPr>
          <p:cNvPr id="38" name="Text 30"/>
          <p:cNvSpPr txBox="1"/>
          <p:nvPr/>
        </p:nvSpPr>
        <p:spPr>
          <a:xfrm>
            <a:off x="4023360" y="4297680"/>
            <a:ext cx="7436815" cy="178308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MongoDB database “promopilot”: products, inventory, segments, segment_sizes, promotions and seasonality.</a:t>
            </a:r>
            <a:endParaRPr lang="en-US" sz="1400" dirty="0"/>
          </a:p>
          <a:p>
            <a:pPr algn="l" marL="342900" indent="-342900">
              <a:spcAft>
                <a:spcPts val="600"/>
              </a:spcAft>
              <a:buSzPct val="100000"/>
              <a:buChar char="•"/>
            </a:pPr>
            <a:r>
              <a:rPr lang="en-US" sz="1400" dirty="0">
                <a:solidFill>
                  <a:schemeClr val="tx1"/>
                </a:solidFill>
              </a:rPr>
              <a:t>Edit a document in MongoDB and the plan recomputes within about 30 seconds.</a:t>
            </a:r>
            <a:endParaRPr lang="en-US" sz="1400" dirty="0"/>
          </a:p>
          <a:p>
            <a:pPr algn="l" marL="342900" indent="-342900">
              <a:spcAft>
                <a:spcPts val="600"/>
              </a:spcAft>
              <a:buSzPct val="100000"/>
              <a:buChar char="•"/>
            </a:pPr>
            <a:r>
              <a:rPr lang="en-US" sz="1400" dirty="0">
                <a:solidFill>
                  <a:schemeClr val="tx1"/>
                </a:solidFill>
              </a:rPr>
              <a:t>If the database is unreachable, empty or malformed, the app keeps working on bundled demo data and shows an amber badge.</a:t>
            </a:r>
            <a:endParaRPr lang="en-US" sz="1400" dirty="0"/>
          </a:p>
          <a:p>
            <a:pPr algn="l" marL="342900" indent="-342900">
              <a:spcAft>
                <a:spcPts val="600"/>
              </a:spcAft>
              <a:buSzPct val="100000"/>
              <a:buChar char="•"/>
            </a:pPr>
            <a:r>
              <a:rPr lang="en-US" sz="1400" dirty="0">
                <a:solidFill>
                  <a:schemeClr val="tx1"/>
                </a:solidFill>
              </a:rPr>
              <a:t>The three models are deterministic stubs behind typed functions, ready to be replaced by trained models.</a:t>
            </a:r>
            <a:endParaRPr lang="en-US" sz="1400" dirty="0"/>
          </a:p>
        </p:txBody>
      </p:sp>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640080"/>
            <a:ext cx="11277295" cy="822960"/>
          </a:xfrm>
          <a:prstGeom prst="rect">
            <a:avLst/>
          </a:prstGeom>
          <a:noFill/>
          <a:ln/>
        </p:spPr>
        <p:txBody>
          <a:bodyPr wrap="square" lIns="0" tIns="0" rIns="0" bIns="0" rtlCol="0" anchor="ctr"/>
          <a:lstStyle/>
          <a:p>
            <a:pPr algn="l" indent="0" marL="0">
              <a:buNone/>
            </a:pPr>
            <a:r>
              <a:rPr lang="en-US" sz="4000" b="1" dirty="0">
                <a:solidFill>
                  <a:schemeClr val="bg1"/>
                </a:solidFill>
              </a:rPr>
              <a:t>Recommend only what adds profit</a:t>
            </a:r>
            <a:endParaRPr lang="en-US" sz="4000" dirty="0"/>
          </a:p>
        </p:txBody>
      </p:sp>
      <p:sp>
        <p:nvSpPr>
          <p:cNvPr id="3" name="Text 0"/>
          <p:cNvSpPr/>
          <p:nvPr>
            <p:ph idx="101" type="body" hasCustomPrompt="1"/>
          </p:nvPr>
        </p:nvSpPr>
        <p:spPr>
          <a:xfrm>
            <a:off x="457200" y="1508760"/>
            <a:ext cx="11277295" cy="411480"/>
          </a:xfrm>
          <a:prstGeom prst="rect">
            <a:avLst/>
          </a:prstGeom>
          <a:noFill/>
          <a:ln/>
        </p:spPr>
        <p:txBody>
          <a:bodyPr wrap="square" lIns="0" tIns="0" rIns="0" bIns="0" rtlCol="0" anchor="t"/>
          <a:lstStyle/>
          <a:p>
            <a:pPr algn="l" indent="0" marL="0">
              <a:buNone/>
            </a:pPr>
            <a:r>
              <a:rPr lang="en-US" sz="1800" dirty="0">
                <a:solidFill>
                  <a:schemeClr val="bg2"/>
                </a:solidFill>
              </a:rPr>
              <a:t>PromoPilot says no far more often than yes: 309 of 400 candidates were rejected</a:t>
            </a:r>
            <a:endParaRPr lang="en-US" sz="1800" dirty="0"/>
          </a:p>
        </p:txBody>
      </p:sp>
      <p:sp>
        <p:nvSpPr>
          <p:cNvPr id="5" name="Card: Built"/>
          <p:cNvSpPr/>
          <p:nvPr/>
        </p:nvSpPr>
        <p:spPr>
          <a:xfrm>
            <a:off x="457200" y="2468880"/>
            <a:ext cx="3576218" cy="2743200"/>
          </a:xfrm>
          <a:prstGeom prst="roundRect">
            <a:avLst>
              <a:gd name="adj" fmla="val 3333"/>
            </a:avLst>
          </a:prstGeom>
          <a:solidFill>
            <a:schemeClr val="bg1">
              <a:alpha val="8000"/>
            </a:schemeClr>
          </a:solidFill>
          <a:ln w="6350">
            <a:solidFill>
              <a:schemeClr val="bg1">
                <a:alpha val="20000"/>
              </a:schemeClr>
            </a:solidFill>
            <a:prstDash val="solid"/>
          </a:ln>
        </p:spPr>
      </p:sp>
      <p:sp>
        <p:nvSpPr>
          <p:cNvPr id="6" name="Shape 3"/>
          <p:cNvSpPr/>
          <p:nvPr/>
        </p:nvSpPr>
        <p:spPr>
          <a:xfrm>
            <a:off x="777240" y="2788920"/>
            <a:ext cx="640080" cy="640080"/>
          </a:xfrm>
          <a:prstGeom prst="ellipse">
            <a:avLst/>
          </a:prstGeom>
          <a:solidFill>
            <a:schemeClr val="accent2"/>
          </a:solidFill>
          <a:ln w="3175">
            <a:solidFill>
              <a:schemeClr val="accent2"/>
            </a:solidFill>
            <a:prstDash val="solid"/>
          </a:ln>
        </p:spPr>
      </p:sp>
      <p:pic>
        <p:nvPicPr>
          <p:cNvPr id="7" name="Image 0" descr="preencoded.png">    </p:cNvPr>
          <p:cNvPicPr>
            <a:picLocks noChangeAspect="1"/>
          </p:cNvPicPr>
          <p:nvPr/>
        </p:nvPicPr>
        <p:blipFill>
          <a:blip r:embed="rId1"/>
          <a:stretch>
            <a:fillRect/>
          </a:stretch>
        </p:blipFill>
        <p:spPr>
          <a:xfrm>
            <a:off x="943661" y="2955341"/>
            <a:ext cx="307238" cy="307238"/>
          </a:xfrm>
          <a:prstGeom prst="rect">
            <a:avLst/>
          </a:prstGeom>
        </p:spPr>
      </p:pic>
      <p:sp>
        <p:nvSpPr>
          <p:cNvPr id="8" name="Text 4"/>
          <p:cNvSpPr txBox="1"/>
          <p:nvPr/>
        </p:nvSpPr>
        <p:spPr>
          <a:xfrm>
            <a:off x="777240" y="3657600"/>
            <a:ext cx="2936138" cy="411480"/>
          </a:xfrm>
          <a:prstGeom prst="rect">
            <a:avLst/>
          </a:prstGeom>
          <a:noFill/>
          <a:ln/>
        </p:spPr>
        <p:txBody>
          <a:bodyPr wrap="square" lIns="0" tIns="0" rIns="0" bIns="0" rtlCol="0" anchor="ctr"/>
          <a:lstStyle/>
          <a:p>
            <a:pPr indent="0" marL="0">
              <a:buNone/>
            </a:pPr>
            <a:r>
              <a:rPr lang="en-US" sz="2200" b="1" dirty="0">
                <a:solidFill>
                  <a:schemeClr val="bg1"/>
                </a:solidFill>
              </a:rPr>
              <a:t>Built</a:t>
            </a:r>
            <a:endParaRPr lang="en-US" sz="2200" dirty="0"/>
          </a:p>
        </p:txBody>
      </p:sp>
      <p:sp>
        <p:nvSpPr>
          <p:cNvPr id="9" name="Text 5"/>
          <p:cNvSpPr txBox="1"/>
          <p:nvPr/>
        </p:nvSpPr>
        <p:spPr>
          <a:xfrm>
            <a:off x="777240" y="4160520"/>
            <a:ext cx="2936138" cy="914400"/>
          </a:xfrm>
          <a:prstGeom prst="rect">
            <a:avLst/>
          </a:prstGeom>
          <a:noFill/>
          <a:ln/>
        </p:spPr>
        <p:txBody>
          <a:bodyPr wrap="square" lIns="0" tIns="0" rIns="0" bIns="0" rtlCol="0" anchor="t"/>
          <a:lstStyle/>
          <a:p>
            <a:pPr algn="l" indent="0" marL="0">
              <a:buNone/>
            </a:pPr>
            <a:r>
              <a:rPr lang="en-US" sz="1600" dirty="0">
                <a:solidFill>
                  <a:schemeClr val="bg2"/>
                </a:solidFill>
              </a:rPr>
              <a:t>Dashboard, recommendations, inventory, segments and a what-if simulator, on live MongoDB data.</a:t>
            </a:r>
            <a:endParaRPr lang="en-US" sz="1600" dirty="0"/>
          </a:p>
        </p:txBody>
      </p:sp>
      <p:sp>
        <p:nvSpPr>
          <p:cNvPr id="10" name="Card: Left out on purpose"/>
          <p:cNvSpPr/>
          <p:nvPr/>
        </p:nvSpPr>
        <p:spPr>
          <a:xfrm>
            <a:off x="4307738" y="2468880"/>
            <a:ext cx="3576218" cy="2743200"/>
          </a:xfrm>
          <a:prstGeom prst="roundRect">
            <a:avLst>
              <a:gd name="adj" fmla="val 3333"/>
            </a:avLst>
          </a:prstGeom>
          <a:solidFill>
            <a:schemeClr val="bg1">
              <a:alpha val="8000"/>
            </a:schemeClr>
          </a:solidFill>
          <a:ln w="6350">
            <a:solidFill>
              <a:schemeClr val="bg1">
                <a:alpha val="20000"/>
              </a:schemeClr>
            </a:solidFill>
            <a:prstDash val="solid"/>
          </a:ln>
        </p:spPr>
      </p:sp>
      <p:sp>
        <p:nvSpPr>
          <p:cNvPr id="11" name="Shape 7"/>
          <p:cNvSpPr/>
          <p:nvPr/>
        </p:nvSpPr>
        <p:spPr>
          <a:xfrm>
            <a:off x="4627778" y="2788920"/>
            <a:ext cx="640080" cy="640080"/>
          </a:xfrm>
          <a:prstGeom prst="ellipse">
            <a:avLst/>
          </a:prstGeom>
          <a:solidFill>
            <a:schemeClr val="accent4"/>
          </a:solidFill>
          <a:ln w="3175">
            <a:solidFill>
              <a:schemeClr val="accent4"/>
            </a:solidFill>
            <a:prstDash val="solid"/>
          </a:ln>
        </p:spPr>
      </p:sp>
      <p:pic>
        <p:nvPicPr>
          <p:cNvPr id="12" name="Image 1" descr="preencoded.png">    </p:cNvPr>
          <p:cNvPicPr>
            <a:picLocks noChangeAspect="1"/>
          </p:cNvPicPr>
          <p:nvPr/>
        </p:nvPicPr>
        <p:blipFill>
          <a:blip r:embed="rId2"/>
          <a:stretch>
            <a:fillRect/>
          </a:stretch>
        </p:blipFill>
        <p:spPr>
          <a:xfrm>
            <a:off x="4794199" y="2955341"/>
            <a:ext cx="307238" cy="307238"/>
          </a:xfrm>
          <a:prstGeom prst="rect">
            <a:avLst/>
          </a:prstGeom>
        </p:spPr>
      </p:pic>
      <p:sp>
        <p:nvSpPr>
          <p:cNvPr id="13" name="Text 8"/>
          <p:cNvSpPr txBox="1"/>
          <p:nvPr/>
        </p:nvSpPr>
        <p:spPr>
          <a:xfrm>
            <a:off x="4627778" y="3657600"/>
            <a:ext cx="2936138" cy="411480"/>
          </a:xfrm>
          <a:prstGeom prst="rect">
            <a:avLst/>
          </a:prstGeom>
          <a:noFill/>
          <a:ln/>
        </p:spPr>
        <p:txBody>
          <a:bodyPr wrap="square" lIns="0" tIns="0" rIns="0" bIns="0" rtlCol="0" anchor="ctr"/>
          <a:lstStyle/>
          <a:p>
            <a:pPr indent="0" marL="0">
              <a:buNone/>
            </a:pPr>
            <a:r>
              <a:rPr lang="en-US" sz="2200" b="1" dirty="0">
                <a:solidFill>
                  <a:schemeClr val="bg1"/>
                </a:solidFill>
              </a:rPr>
              <a:t>Left out on purpose</a:t>
            </a:r>
            <a:endParaRPr lang="en-US" sz="2200" dirty="0"/>
          </a:p>
        </p:txBody>
      </p:sp>
      <p:sp>
        <p:nvSpPr>
          <p:cNvPr id="14" name="Text 9"/>
          <p:cNvSpPr txBox="1"/>
          <p:nvPr/>
        </p:nvSpPr>
        <p:spPr>
          <a:xfrm>
            <a:off x="4627778" y="4160520"/>
            <a:ext cx="2936138" cy="914400"/>
          </a:xfrm>
          <a:prstGeom prst="rect">
            <a:avLst/>
          </a:prstGeom>
          <a:noFill/>
          <a:ln/>
        </p:spPr>
        <p:txBody>
          <a:bodyPr wrap="square" lIns="0" tIns="0" rIns="0" bIns="0" rtlCol="0" anchor="t"/>
          <a:lstStyle/>
          <a:p>
            <a:pPr algn="l" indent="0" marL="0">
              <a:buNone/>
            </a:pPr>
            <a:r>
              <a:rPr lang="en-US" sz="1600" dirty="0">
                <a:solidFill>
                  <a:schemeClr val="bg2"/>
                </a:solidFill>
              </a:rPr>
              <a:t>Per-customer targeting, competitor pricing, multi-warehouse allocation, LLM calls and auth.</a:t>
            </a:r>
            <a:endParaRPr lang="en-US" sz="1600" dirty="0"/>
          </a:p>
        </p:txBody>
      </p:sp>
      <p:sp>
        <p:nvSpPr>
          <p:cNvPr id="15" name="Card: Next"/>
          <p:cNvSpPr/>
          <p:nvPr/>
        </p:nvSpPr>
        <p:spPr>
          <a:xfrm>
            <a:off x="8158277" y="2468880"/>
            <a:ext cx="3576218" cy="2743200"/>
          </a:xfrm>
          <a:prstGeom prst="roundRect">
            <a:avLst>
              <a:gd name="adj" fmla="val 3333"/>
            </a:avLst>
          </a:prstGeom>
          <a:solidFill>
            <a:schemeClr val="bg1">
              <a:alpha val="8000"/>
            </a:schemeClr>
          </a:solidFill>
          <a:ln w="6350">
            <a:solidFill>
              <a:schemeClr val="bg1">
                <a:alpha val="20000"/>
              </a:schemeClr>
            </a:solidFill>
            <a:prstDash val="solid"/>
          </a:ln>
        </p:spPr>
      </p:sp>
      <p:sp>
        <p:nvSpPr>
          <p:cNvPr id="16" name="Shape 11"/>
          <p:cNvSpPr/>
          <p:nvPr/>
        </p:nvSpPr>
        <p:spPr>
          <a:xfrm>
            <a:off x="8478317" y="2788920"/>
            <a:ext cx="640080" cy="640080"/>
          </a:xfrm>
          <a:prstGeom prst="ellipse">
            <a:avLst/>
          </a:prstGeom>
          <a:solidFill>
            <a:schemeClr val="accent5"/>
          </a:solidFill>
          <a:ln w="3175">
            <a:solidFill>
              <a:schemeClr val="accent5"/>
            </a:solidFill>
            <a:prstDash val="solid"/>
          </a:ln>
        </p:spPr>
      </p:sp>
      <p:pic>
        <p:nvPicPr>
          <p:cNvPr id="17" name="Image 2" descr="preencoded.png">    </p:cNvPr>
          <p:cNvPicPr>
            <a:picLocks noChangeAspect="1"/>
          </p:cNvPicPr>
          <p:nvPr/>
        </p:nvPicPr>
        <p:blipFill>
          <a:blip r:embed="rId3"/>
          <a:stretch>
            <a:fillRect/>
          </a:stretch>
        </p:blipFill>
        <p:spPr>
          <a:xfrm>
            <a:off x="8644738" y="2955341"/>
            <a:ext cx="307238" cy="307238"/>
          </a:xfrm>
          <a:prstGeom prst="rect">
            <a:avLst/>
          </a:prstGeom>
        </p:spPr>
      </p:pic>
      <p:sp>
        <p:nvSpPr>
          <p:cNvPr id="18" name="Text 12"/>
          <p:cNvSpPr txBox="1"/>
          <p:nvPr/>
        </p:nvSpPr>
        <p:spPr>
          <a:xfrm>
            <a:off x="8478317" y="3657600"/>
            <a:ext cx="2936138" cy="411480"/>
          </a:xfrm>
          <a:prstGeom prst="rect">
            <a:avLst/>
          </a:prstGeom>
          <a:noFill/>
          <a:ln/>
        </p:spPr>
        <p:txBody>
          <a:bodyPr wrap="square" lIns="0" tIns="0" rIns="0" bIns="0" rtlCol="0" anchor="ctr"/>
          <a:lstStyle/>
          <a:p>
            <a:pPr indent="0" marL="0">
              <a:buNone/>
            </a:pPr>
            <a:r>
              <a:rPr lang="en-US" sz="2200" b="1" dirty="0">
                <a:solidFill>
                  <a:schemeClr val="bg1"/>
                </a:solidFill>
              </a:rPr>
              <a:t>Next</a:t>
            </a:r>
            <a:endParaRPr lang="en-US" sz="2200" dirty="0"/>
          </a:p>
        </p:txBody>
      </p:sp>
      <p:sp>
        <p:nvSpPr>
          <p:cNvPr id="19" name="Text 13"/>
          <p:cNvSpPr txBox="1"/>
          <p:nvPr/>
        </p:nvSpPr>
        <p:spPr>
          <a:xfrm>
            <a:off x="8478317" y="4160520"/>
            <a:ext cx="2936138" cy="914400"/>
          </a:xfrm>
          <a:prstGeom prst="rect">
            <a:avLst/>
          </a:prstGeom>
          <a:noFill/>
          <a:ln/>
        </p:spPr>
        <p:txBody>
          <a:bodyPr wrap="square" lIns="0" tIns="0" rIns="0" bIns="0" rtlCol="0" anchor="t"/>
          <a:lstStyle/>
          <a:p>
            <a:pPr algn="l" indent="0" marL="0">
              <a:buNone/>
            </a:pPr>
            <a:r>
              <a:rPr lang="en-US" sz="1600" dirty="0">
                <a:solidFill>
                  <a:schemeClr val="bg2"/>
                </a:solidFill>
              </a:rPr>
              <a:t>Replace the deterministic models with trained ones behind the same typed functions.</a:t>
            </a:r>
            <a:endParaRPr lang="en-US" sz="1600" dirty="0"/>
          </a:p>
        </p:txBody>
      </p:sp>
      <p:sp>
        <p:nvSpPr>
          <p:cNvPr id="20" name="Text 14"/>
          <p:cNvSpPr txBox="1"/>
          <p:nvPr/>
        </p:nvSpPr>
        <p:spPr>
          <a:xfrm>
            <a:off x="457200" y="5669280"/>
            <a:ext cx="5486400" cy="548640"/>
          </a:xfrm>
          <a:prstGeom prst="rect">
            <a:avLst/>
          </a:prstGeom>
          <a:noFill/>
          <a:ln/>
        </p:spPr>
        <p:txBody>
          <a:bodyPr wrap="square" lIns="0" tIns="0" rIns="0" bIns="0" rtlCol="0" anchor="ctr"/>
          <a:lstStyle/>
          <a:p>
            <a:pPr indent="0" marL="0">
              <a:buNone/>
            </a:pPr>
            <a:r>
              <a:rPr lang="en-US" sz="2800" b="1" dirty="0">
                <a:solidFill>
                  <a:schemeClr val="bg1"/>
                </a:solidFill>
              </a:rPr>
              <a:t>Questions?</a:t>
            </a:r>
            <a:endParaRPr lang="en-US" sz="2800" dirty="0"/>
          </a:p>
        </p:txBody>
      </p:sp>
    </p:spTree>
  </p:cSld>
  <p:clrMapOvr>
    <a:masterClrMapping/>
  </p:clrMapOvr>
</p:sld>
</file>

<file path=ppt/theme/theme1.xml><?xml version="1.0" encoding="utf-8"?>
<a:theme xmlns:a="http://schemas.openxmlformats.org/drawingml/2006/main" name="PromoPilot">
  <a:themeElements>
    <a:clrScheme name="PromoPilot">
      <a:dk1>
        <a:srgbClr val="0F172A"/>
      </a:dk1>
      <a:lt1>
        <a:srgbClr val="FFFFFF"/>
      </a:lt1>
      <a:dk2>
        <a:srgbClr val="475569"/>
      </a:dk2>
      <a:lt2>
        <a:srgbClr val="F1F5F9"/>
      </a:lt2>
      <a:accent1>
        <a:srgbClr val="4F46E5"/>
      </a:accent1>
      <a:accent2>
        <a:srgbClr val="059669"/>
      </a:accent2>
      <a:accent3>
        <a:srgbClr val="D97706"/>
      </a:accent3>
      <a:accent4>
        <a:srgbClr val="DC2626"/>
      </a:accent4>
      <a:accent5>
        <a:srgbClr val="0EA5E9"/>
      </a:accent5>
      <a:accent6>
        <a:srgbClr val="7C3AED"/>
      </a:accent6>
      <a:hlink>
        <a:srgbClr val="4F46E5"/>
      </a:hlink>
      <a:folHlink>
        <a:srgbClr val="7C3AED"/>
      </a:folHlink>
    </a:clrScheme>
    <a:fontScheme name="PromoPilo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PromoPilot: a walkthrough of the UI</dc:title>
  <dc:subject>TCS Tech Day</dc:subject>
  <dc:creator>PptxGenJS</dc:creator>
  <cp:lastModifiedBy>PptxGenJS</cp:lastModifiedBy>
  <cp:revision>1</cp:revision>
  <dcterms:created xsi:type="dcterms:W3CDTF">2026-10-07T09:05:26Z</dcterms:created>
  <dcterms:modified xsi:type="dcterms:W3CDTF">2026-10-07T09:05:26Z</dcterms:modified>
</cp:coreProperties>
</file>